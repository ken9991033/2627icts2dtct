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5・引入（0–8 分鐘）｜本頁約 1 分鐘】展示一件 3D 打印的花階磚樣本，讓學生傳閱。
今天開始兩個雙連堂：每位同學會為一位「用家」設計一塊花階磚，最後匯出 3D 模型，由老師用學校的 3D 打印機打印。
網址已放在 Google Classroom；學生用 Chrome 或 Edge 開啟，不需登入。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【路線圖｜約 30 秒】課次 5 著重「了解問題」：同理、定義、拆解、演算法。課次 6 著重「解決問題」：設計、原型、測試、改良。
平台頂部的 8 塊小磚就是這 8 個步驟，完成一步，小磚就會變成花磚。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5・0–8 分鐘・引入（第 1–8 頁）】
對應教學進度表課次 5：觀察使用者需要，定義具體問題；把問題拆解成可處理的小部分。價值教育：同理心、尊重他人。
下方時間軸與平台「教師工具 → 課堂流程」相同，可以開啟計時器配合使用。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【引入｜約 2 分鐘】
問題 1 預期答案：舊樓、唐樓、茶餐廳、舊式街市、公公婆婆的家。
問題 2：左右／上下對稱、會轉圈、四塊拼起來出現更大的圖案。
問題 3：學生可能說很多次 → 帶出「重複」：只要畫好一小部分，其餘可以重複。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2 分鐘｜博文】介紹花階磚的背景：以水泥及顏料人手製造（不是陶瓷，不用燒）。
請學生留意右圖：磚角的四分一圓，四塊拼合後變成完整圓形——之後設計時可以利用。
延伸：鼓勵學生回家問長輩有沒有見過花階磚。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【任務｜約 1 分鐘】強調：好的設計不是「我覺得好看」，而是「用家用得好」。
成功準則會在步驟 7 由同學（扮演用家）檢查。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分鐘】設計思維五個階段。強調兩點：
1. 以人為本：先了解用家，才設計。
2. 不斷重複（迭代）：v1 → 測試 → v2。
平台的 8 個步驟就是跟着這五個階段走。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分鐘，總結時再重溫】四個概念都會在平台出現：
拆解＝步驟 3 任務三；模式識別＝步驟 3 任務一、二；抽象化＝步驟 2（只揀 3 個需要）及步驟 6（顏色→高度）；演算法＝步驟 4、5。
可以問：日常生活中哪裏用到演算法？（食譜、上學路線、洗手步驟）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5・步驟 1（8–22 分鐘）｜本頁約 1 分鐘】學生打開網址（可放在 Google Classroom，或掃描 QR code），輸入班別、學號。
提醒：右上角「存檔」圖示可以下載及載入存檔；學校電腦重開機後，瀏覽器內的資料可能會消失。
頂部 8 塊小磚＝8 個步驟，已完成的步驟會變成花磚。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分鐘】建議四人一組抽同一張用家卡（可列印用家卡抽籤），之後可以互相比較、互相測試。
每位用家的需要都有「互相矛盾」的地方，例如阿明要「夠大」但又要「打印快」，稍後定義問題時要取捨。
黃先生（視障）可以讓能力較強的組別挑戰：設計要摸得出。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9 分鐘】學生逐條問題訪問。答案用廣東話口語，較生動；鼓勵學生讀出來。
巡堂時問：「婆婆說『眼矇矇』，那她需要甚麼？」（顏色對比強）
完成後小組口頭分享：每人講一個需要及原因（同理心、尊重他人）。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3 分鐘，至第 22 分鐘】「需要」不等於「喜好」：用家說的話背後，往往有一個真正的需要。
示範右邊的推論：說話 → 需要 → 可以檢查的設計準則。
活動：小組內輪流分享（每人 30 秒）。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5・步驟 2（22–30 分鐘）｜本頁約 6 分鐘】學生揀產品、排出 3 個最重要的需要。
這 3 個需要會成為「設計準則」，步驟 7 由同學檢查；有些由電腦即時檢查（例如顏色對比度）。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2 分鐘，至第 30 分鐘】「我們可以如何」（How Might We）是設計思維常用的句式。左圖是平台按學生的選擇自動寫出的任務書。
討論阿明的矛盾：可以揀迷你磚打印快、或者杯墊但減低高度；沒有標準答案，重要是說出理由。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5・步驟 3（30–45 分鐘）｜本頁約 7 分鐘】任務一：學生常揀 1/4。追問：「沿斜線對摺，兩邊是不是一樣？」→ 1/8。
任務二：綠葉風車沒有鏡像對稱，所以 1/8 不夠，最細是 1/4。
重組動畫能清楚顯示「重複」如何把一部分變成整塊磚。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3 分鐘】用實物或圖片示範：把紅花地磚沿直線及斜線對摺。
提問：一塊正方形磚最多可以有幾多份對稱？（8 份：4 次旋轉 × 2 鏡像）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5 分鐘，至第 45 分鐘】想想：這件事是關於「外觀」、「製作」還是「用家」？
答案：
圖案與顏色：揀 2–4 種顏色、設計 1/8 基本圖案、決定對稱方法。
尺寸與打印：揀杯墊還是鎖匙扣、決定凸起高度、估計打印時間。
用家感受：請同學扮演用家試用、檢查有沒有做到用家的需要。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5・步驟 4（45–62 分鐘）｜本頁約 7 分鐘】學生熟悉 Scratch，積木的形狀和顏色一樣。
建議先用「一步一步」：每按一次，看清楚哪一塊積木在執行、變數怎樣改變。
挑戰 1 風車（4 次、90°、不鏡像）；挑戰 2 萬花筒（加鏡像）；挑戰 3 捉蟲（60° → 90°）。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2 分鐘】對照 Scratch 積木與 JavaScript（能力較強的同學可在平台打開「看看 JavaScript 版本」）。
提問：重複 4 次，每次轉 90°，一共轉了幾度？（360°，剛好一圈）
如果要做 6 份雪花？（360 ÷ 6 = 60°）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2 分鐘】捉蟲挑戰：程式寫了「右轉 60 度」，結果圖案擠在一邊。
引導學生用「一步一步」觀察變數「已轉」：第 4 次後只轉了 240°。
挑戰答案：360 ÷ 6 = 60°（平台挑戰 4 為延伸題）。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5 分鐘】4 行 × 4 列 = 16 塊，外層迴圈跑 1 次，內層迴圈跑 4 次（巢狀迴圈）。
地板挑戰 2 的答案是「四塊一組轉圈」；「隔行隔列鏡像」砌出來也一樣，同樣算對——不同的演算法可以得到相同的結果。
自由探索：「隨機旋轉」每次都不同，連結下學期 Delightex 的隨機數。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分鐘，至第 62 分鐘】同一塊磚，不同規則，地板完全不同：小規則，大圖案。
提問：為甚麼紅花地磚用任何規則都一樣？（它本身是 8 份對稱，怎樣轉也不變）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5・總結（62–70 分鐘）】先用左邊四個概念重溫今天的學習，再做出口卡。
出口卡答案：
1. 1/8，因為紅花地磚有旋轉及鏡像對稱。
2. 360 ÷ 8 = 45°。
3. 按學生用家回答。
最重要：下載存檔！學校電腦重開機後，瀏覽器內的資料可能會消失。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6・重溫（0–5 分鐘）】先讓學生載入上一課的存檔，重溫用家和設計準則。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6・重溫（0–5 分鐘）】對應課次 6 目標：構思方案，以原型表達；測試並改進方案。價值教育：團結、承擔精神。
巡堂協助未能載入存檔的同學；如果找不到存檔，可以在步驟 1 重新揀用家，用範例磚或「隨機靈感」加快進度（作品卡會如實註明）。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6・步驟 5（5–30 分鐘）｜示範約 3 分鐘，之後學生設計約 18 分鐘】建議做法：先揀對稱方法 → 放 1–2 個主要形狀 → 加中心重點 → 加角落及邊框 → 看地板預覽 → 調整顏色。
可以從範例磚開始，但要加入自己的改動（作品卡會如實註明）。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分鐘】全班一齊示範：加入一片花瓣，狀態列顯示「你畫了 1 個形狀 → 演算法重複 8 份 → 畫布上共有 8 個圖案」。
連結步驟 4 的迴圈：萬花筒＝重複 4 次＋鏡像。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【參考】可以把這一頁留在投影機上，方便學生查看。
「對齊」開啟時，形狀會吸附到中心、對稱軸及磚邊；按住 Alt 拖曳可暫時取消。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分鐘】用右圖解釋「邊角要連接」：每塊磚角落的四分一圓，拼起來變成完整的圓，地板便更連貫。
提醒：要符合自己用家的 3 個準則，例如陳婆婆要顏色對比強。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分鐘；學生設計至第 30 分鐘】右邊面板向下捲動，可以看到「設計準則」、「同學的建議」及「版本」。
完成條件：最少 3 個形狀，並儲存 v1。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6・步驟 6（30–38 分鐘）｜本頁約 4 分鐘】學生把各種顏色設為平、低或高，觀察 3D 模型的變化。
提問：用「單色打印」預覽時，為甚麼有些圖案看不見？（兩種顏色高度一樣，單色打印分不出）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2 分鐘】學校用的是熔絲沉積（FDM）打印機：把塑膠線加熱，一層一層疊上去。
打印時間與體積和層數有關，所以「打印要快」的用家適合迷你磚。
平台會估算時間和用料，數字只是約數，視乎打印機。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分鐘】數據表示：同一個資料（顏色），換一種方式表達（高度）。這也是抽象化——只保留打印需要的資料。
可以預告：老師會為部分作品做雙色打印。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分鐘，至第 38 分鐘】STL 以毫米為單位，可直接放入 Bambu Studio、PrusaSlicer 或 Cura。
全班的迷你磚可以由老師在「教師工具 → 全班作品牆」一次過合併成打印盤。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6・步驟 7（38–55 分鐘）】先講解第 35–36 頁（約 3 分鐘），交換測試約 6 分鐘，再修改並儲存 v2 約 8 分鐘。
鄰座交換座位，在對方電腦按「開始測試」。
強調誠實、具體、有禮（團結、承擔精神）：評分要根據準則，不是根據喜好。
設計師收到意見後，回到步驟 5 修改並儲存 v2，再回到步驟 7 選出「我改了甚麼」及「根據哪些意見」。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【與上一頁一併講解】示範好意見與壞意見。
平台會自動偵測 v1 與 v2 的分別（標上 ★），學生確認後再選出根據哪些意見修改。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6・步驟 8（55–65 分鐘）｜本頁約 8 分鐘】作品卡自動整合：用家、任務書、設計、3D 模型、演算法、測試結果、v1 → v2、反思及創作聲明。
完成條件：下載作品卡或存檔；頂部 8 塊小磚全部變成花磚，就完成了。
老師收集存檔 JSON，用於全班作品牆及打印。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2 分鐘，至第 65 分鐘】對應天主教核心價值「真理」（T2.1 誠信）。
強調：用範例或靈感產生器不是錯，隱瞞才是問題。
右圖是作品卡的例子：最底的「創作聲明」由平台記錄、學生確認。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【課次 6・全班作品牆（65–70 分鐘）｜約 4 分鐘】在教師工具匯入學生存檔，投影「全班地板」。
與學生一起按準則選出要打印的作品（或全班迷你磚都打印）。
打印盤 STL 可直接放入切片軟件；建議放學後或通宵打印。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 1 分鐘】請學生說出：哪一個步驟最難？哪一個概念最有用？
可以用這一頁作為課後溫習。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【延伸】能力較強的同學可做雪花掛飾或觸感杯墊；聖誕前可打印掛飾送給家人（孝親、關愛）。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【教師參考】可配合平台記錄的證據評分：步驟完成情況、設計準則檢查、同學意見、v1 → v2 及創作聲明。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1.jpg"/><Relationship Id="rId3" Type="http://schemas.openxmlformats.org/officeDocument/2006/relationships/image" Target="../media/image-2-1.jpg"/><Relationship Id="rId4" Type="http://schemas.openxmlformats.org/officeDocument/2006/relationships/image" Target="../media/image-2-1.jpg"/><Relationship Id="rId5" Type="http://schemas.openxmlformats.org/officeDocument/2006/relationships/image" Target="../media/image-2-1.jpg"/><Relationship Id="rId6" Type="http://schemas.openxmlformats.org/officeDocument/2006/relationships/image" Target="../media/image-2-6.jpg"/><Relationship Id="rId7" Type="http://schemas.openxmlformats.org/officeDocument/2006/relationships/image" Target="../media/image-2-6.jpg"/><Relationship Id="rId8" Type="http://schemas.openxmlformats.org/officeDocument/2006/relationships/image" Target="../media/image-2-6.jpg"/><Relationship Id="rId9" Type="http://schemas.openxmlformats.org/officeDocument/2006/relationships/image" Target="../media/image-2-6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1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1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163F32">
              <a:alpha val="92000"/>
            </a:srgbClr>
          </a:solidFill>
          <a:ln w="12700">
            <a:solidFill>
              <a:srgbClr val="163F32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6A0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中二級 資訊及通訊科技科｜設計與計算思維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為用家設計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一塊花階磚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931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花階磚設計工作室｜課次 5–6（兩個雙連堂）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同理 → 定義 → 構思 → 原型 → 測試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25780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5257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A0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　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ken9991033.github.io/-/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單元路線圖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兩節課、八個步驟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691640" y="169164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7" name="Image 1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1892808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93392" y="199339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199339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認識用家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89280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同理｜收集資料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886200" y="2441448"/>
            <a:ext cx="301752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233672" y="169164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14" name="Image 2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92808"/>
            <a:ext cx="566928" cy="56692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535424" y="199339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4535424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102352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定義問題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43484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定義｜抽象化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28232" y="2441448"/>
            <a:ext cx="301752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775704" y="169164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21" name="Image 3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1892808"/>
            <a:ext cx="566928" cy="56692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077456" y="199339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7077456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644384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花階磚偵探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976872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拆解｜模式識別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8970264" y="2441448"/>
            <a:ext cx="301752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317736" y="169164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28" name="Image 4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8904" y="1892808"/>
            <a:ext cx="566928" cy="566928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619488" y="199339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9619488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10186416" y="1920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演算法工作坊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518904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迴圈｜條件｜除錯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1691640" y="384048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pic>
        <p:nvPicPr>
          <p:cNvPr id="35" name="Image 5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2808" y="4041648"/>
            <a:ext cx="566928" cy="566928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993392" y="414223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199339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2560320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設計花階磚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1892808" y="4754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構思｜演算法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3886200" y="4590288"/>
            <a:ext cx="301752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41" name="Shape 33"/>
          <p:cNvSpPr/>
          <p:nvPr/>
        </p:nvSpPr>
        <p:spPr>
          <a:xfrm>
            <a:off x="4233672" y="384048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pic>
        <p:nvPicPr>
          <p:cNvPr id="42" name="Image 6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041648"/>
            <a:ext cx="566928" cy="566928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4535424" y="414223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4" name="Text 35"/>
          <p:cNvSpPr txBox="1"/>
          <p:nvPr/>
        </p:nvSpPr>
        <p:spPr>
          <a:xfrm>
            <a:off x="4535424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5102352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原型</a:t>
            </a:r>
            <a:endParaRPr lang="en-US" sz="1600" dirty="0"/>
          </a:p>
        </p:txBody>
      </p:sp>
      <p:sp>
        <p:nvSpPr>
          <p:cNvPr id="46" name="Text 37"/>
          <p:cNvSpPr txBox="1"/>
          <p:nvPr/>
        </p:nvSpPr>
        <p:spPr>
          <a:xfrm>
            <a:off x="4434840" y="4754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原型｜數據表示</a:t>
            </a:r>
            <a:endParaRPr lang="en-US" sz="1250" dirty="0"/>
          </a:p>
        </p:txBody>
      </p:sp>
      <p:sp>
        <p:nvSpPr>
          <p:cNvPr id="47" name="Shape 38"/>
          <p:cNvSpPr/>
          <p:nvPr/>
        </p:nvSpPr>
        <p:spPr>
          <a:xfrm>
            <a:off x="6428232" y="4590288"/>
            <a:ext cx="301752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6775704" y="384048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pic>
        <p:nvPicPr>
          <p:cNvPr id="49" name="Image 7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72" y="4041648"/>
            <a:ext cx="566928" cy="566928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7077456" y="414223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1" name="Text 41"/>
          <p:cNvSpPr txBox="1"/>
          <p:nvPr/>
        </p:nvSpPr>
        <p:spPr>
          <a:xfrm>
            <a:off x="7077456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300" dirty="0"/>
          </a:p>
        </p:txBody>
      </p:sp>
      <p:sp>
        <p:nvSpPr>
          <p:cNvPr id="52" name="Text 42"/>
          <p:cNvSpPr txBox="1"/>
          <p:nvPr/>
        </p:nvSpPr>
        <p:spPr>
          <a:xfrm>
            <a:off x="7644384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測試與改良</a:t>
            </a:r>
            <a:endParaRPr lang="en-US" sz="1600" dirty="0"/>
          </a:p>
        </p:txBody>
      </p:sp>
      <p:sp>
        <p:nvSpPr>
          <p:cNvPr id="53" name="Text 43"/>
          <p:cNvSpPr txBox="1"/>
          <p:nvPr/>
        </p:nvSpPr>
        <p:spPr>
          <a:xfrm>
            <a:off x="6976872" y="4754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測試｜迭代</a:t>
            </a:r>
            <a:endParaRPr lang="en-US" sz="1250" dirty="0"/>
          </a:p>
        </p:txBody>
      </p:sp>
      <p:sp>
        <p:nvSpPr>
          <p:cNvPr id="54" name="Shape 44"/>
          <p:cNvSpPr/>
          <p:nvPr/>
        </p:nvSpPr>
        <p:spPr>
          <a:xfrm>
            <a:off x="8970264" y="4590288"/>
            <a:ext cx="301752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55" name="Shape 45"/>
          <p:cNvSpPr/>
          <p:nvPr/>
        </p:nvSpPr>
        <p:spPr>
          <a:xfrm>
            <a:off x="9317736" y="3840480"/>
            <a:ext cx="2148840" cy="1508760"/>
          </a:xfrm>
          <a:prstGeom prst="roundRect">
            <a:avLst>
              <a:gd name="adj" fmla="val 6061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pic>
        <p:nvPicPr>
          <p:cNvPr id="56" name="Image 8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8904" y="4041648"/>
            <a:ext cx="566928" cy="566928"/>
          </a:xfrm>
          <a:prstGeom prst="rect">
            <a:avLst/>
          </a:prstGeom>
        </p:spPr>
      </p:pic>
      <p:sp>
        <p:nvSpPr>
          <p:cNvPr id="57" name="Shape 46"/>
          <p:cNvSpPr/>
          <p:nvPr/>
        </p:nvSpPr>
        <p:spPr>
          <a:xfrm>
            <a:off x="9619488" y="414223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8" name="Text 47"/>
          <p:cNvSpPr txBox="1"/>
          <p:nvPr/>
        </p:nvSpPr>
        <p:spPr>
          <a:xfrm>
            <a:off x="961948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300" dirty="0"/>
          </a:p>
        </p:txBody>
      </p:sp>
      <p:sp>
        <p:nvSpPr>
          <p:cNvPr id="59" name="Text 48"/>
          <p:cNvSpPr txBox="1"/>
          <p:nvPr/>
        </p:nvSpPr>
        <p:spPr>
          <a:xfrm>
            <a:off x="10186416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作品卡</a:t>
            </a:r>
            <a:endParaRPr lang="en-US" sz="1600" dirty="0"/>
          </a:p>
        </p:txBody>
      </p:sp>
      <p:sp>
        <p:nvSpPr>
          <p:cNvPr id="60" name="Text 49"/>
          <p:cNvSpPr txBox="1"/>
          <p:nvPr/>
        </p:nvSpPr>
        <p:spPr>
          <a:xfrm>
            <a:off x="9518904" y="4754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分享｜反思</a:t>
            </a:r>
            <a:endParaRPr lang="en-US" sz="1250" dirty="0"/>
          </a:p>
        </p:txBody>
      </p:sp>
      <p:sp>
        <p:nvSpPr>
          <p:cNvPr id="61" name="Shape 50"/>
          <p:cNvSpPr/>
          <p:nvPr/>
        </p:nvSpPr>
        <p:spPr>
          <a:xfrm>
            <a:off x="1691640" y="5943600"/>
            <a:ext cx="9966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1874520" y="5943600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成品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一塊為用家而設的花階磚（v1 → v2）、作品卡，以及可以 3D 打印的 STL 檔案。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5｜設計與計算思維（一）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今天的學習目標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6" name="Image 1" descr="/tmp/claude-0/-home-user--/8f4841b7-9c00-5e04-aa8f-13e0236944cf/scratchpad/build/img/tile-pinwhe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974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認識設計思維的五個階段、計算思維的四個概念；理解「重複」（迴圈）如何做出對稱圖案。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43400" y="1481328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10" name="Image 2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73736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532120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4617720" y="26974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從用家訪問中找出需要，定義具體問題；把大問題拆解成小部分；用積木寫出重複、旋轉、鏡像的演算法。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138160" y="1481328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14" name="Image 3" descr="/tmp/claude-0/-home-user--/8f4841b7-9c00-5e04-aa8f-13e0236944cf/scratchpad/build/img/tile-scallo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737360"/>
            <a:ext cx="731520" cy="7315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26880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價值觀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8412480" y="26974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同理心、尊重他人：用心聆聽不同用家的需要，從別人的角度構思方案。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663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課堂流程（雙連堂 70 分鐘）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5074920"/>
            <a:ext cx="1269710" cy="749808"/>
          </a:xfrm>
          <a:prstGeom prst="rect">
            <a:avLst/>
          </a:prstGeom>
          <a:solidFill>
            <a:srgbClr val="F5E6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0080" y="5074920"/>
            <a:ext cx="1141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引入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274320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0'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1818350" y="5074920"/>
            <a:ext cx="2221992" cy="749808"/>
          </a:xfrm>
          <a:prstGeom prst="rect">
            <a:avLst/>
          </a:prstGeom>
          <a:solidFill>
            <a:srgbClr val="1E5B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909790" y="5074920"/>
            <a:ext cx="2093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認識用家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1544030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8'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040342" y="5074920"/>
            <a:ext cx="1269710" cy="749808"/>
          </a:xfrm>
          <a:prstGeom prst="rect">
            <a:avLst/>
          </a:prstGeom>
          <a:solidFill>
            <a:srgbClr val="163F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131782" y="5074920"/>
            <a:ext cx="1141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定義問題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3766022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22'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310051" y="5074920"/>
            <a:ext cx="2380706" cy="749808"/>
          </a:xfrm>
          <a:prstGeom prst="rect">
            <a:avLst/>
          </a:prstGeom>
          <a:solidFill>
            <a:srgbClr val="1E5B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401491" y="5074920"/>
            <a:ext cx="225269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花階磚偵探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5035731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30'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690757" y="5074920"/>
            <a:ext cx="2698133" cy="749808"/>
          </a:xfrm>
          <a:prstGeom prst="rect">
            <a:avLst/>
          </a:prstGeom>
          <a:solidFill>
            <a:srgbClr val="163F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782197" y="5074920"/>
            <a:ext cx="257011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演算法工作坊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7416437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45'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10388890" y="5074920"/>
            <a:ext cx="1269710" cy="749808"/>
          </a:xfrm>
          <a:prstGeom prst="rect">
            <a:avLst/>
          </a:prstGeom>
          <a:solidFill>
            <a:srgbClr val="F5E6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0480330" y="5074920"/>
            <a:ext cx="1141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出口卡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總結＋存檔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10114570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62'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11384280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70'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你見過這些地磚嗎？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scall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pic>
        <p:nvPicPr>
          <p:cNvPr id="5" name="Image 1" descr="/tmp/claude-0/-home-user--/8f4841b7-9c00-5e04-aa8f-13e0236944cf/scratchpad/build/img/hero-floo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481328"/>
            <a:ext cx="6583680" cy="3703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516368" y="1664208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516368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16002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你在哪裏見過這種地磚？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7516368" y="2852928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516368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27889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這些圖案有甚麼共通點？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7516368" y="4041648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51636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39776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如果要人手畫一塊，要畫多少次？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48640" y="548640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54864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一塊花階磚，其實只由一小塊圖案「重複」而成。今天我們會用電腦幫我們重複！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理論｜文化與歷史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花階磚小檔案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6309360" cy="1024128"/>
          </a:xfrm>
          <a:prstGeom prst="roundRect">
            <a:avLst>
              <a:gd name="adj" fmla="val 8929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8132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年代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481328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二十世紀中期，香港唐樓、茶餐廳及店舖常見的地磚。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6309360" cy="1024128"/>
          </a:xfrm>
          <a:prstGeom prst="roundRect">
            <a:avLst>
              <a:gd name="adj" fmla="val 8929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7004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製法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670048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用銅模分格，倒入不同顏色的水泥，再用機器壓實；不用燒製，而是浸水養護。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858768"/>
            <a:ext cx="6309360" cy="1024128"/>
          </a:xfrm>
          <a:prstGeom prst="roundRect">
            <a:avLst>
              <a:gd name="adj" fmla="val 8929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85876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圖案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858768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常見約 20 × 20 厘米，圖案多數對稱；四塊拼起來會出現更大的圖案。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5047488"/>
            <a:ext cx="6309360" cy="1024128"/>
          </a:xfrm>
          <a:prstGeom prst="roundRect">
            <a:avLst>
              <a:gd name="adj" fmla="val 8929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04748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5047488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七十年代後逐漸被較便宜的瓷磚取代，現在成為香港人的集體回憶和保育對象。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23760" y="1435608"/>
            <a:ext cx="2148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1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481328"/>
            <a:ext cx="2057400" cy="2057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269480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一塊磚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555480" y="1435608"/>
            <a:ext cx="2148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2" descr="/tmp/claude-0/-home-user--/8f4841b7-9c00-5e04-aa8f-13e0236944cf/scratchpad/build/img/floor-redflow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481328"/>
            <a:ext cx="2057400" cy="20574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601200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十六塊拼成地板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269480" y="4206240"/>
            <a:ext cx="4389120" cy="1828800"/>
          </a:xfrm>
          <a:prstGeom prst="roundRect">
            <a:avLst>
              <a:gd name="adj" fmla="val 5000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98080" y="42062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留意角落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每塊磚角落的四分一個圓，四塊拼起來就變成一個完整的圓。這是設計花階磚的小秘密。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今天的任務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為一位用家設計花階磚，再 3D 打印出來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pic>
        <p:nvPicPr>
          <p:cNvPr id="5" name="Image 1" descr="/tmp/claude-0/-home-user--/8f4841b7-9c00-5e04-aa8f-13e0236944cf/scratchpad/build/img/render-3d-rea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417320"/>
            <a:ext cx="5715000" cy="321868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709928"/>
            <a:ext cx="457200" cy="45720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400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280160" y="15910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認識用家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1993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訪問用家，找出他們真正的需要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734056"/>
            <a:ext cx="457200" cy="45720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4008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26151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用演算法設計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3017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畫好一小塊，電腦幫你重複成整塊磚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758184"/>
            <a:ext cx="457200" cy="45720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400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280160" y="36393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打印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280160" y="4041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把顏色變成高度，匯出 STL 檔案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4846320"/>
            <a:ext cx="11155680" cy="1463040"/>
          </a:xfrm>
          <a:prstGeom prst="roundRect">
            <a:avLst>
              <a:gd name="adj" fmla="val 625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成功準則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5394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符合用家最重要的 3 個需要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480560" y="5394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圖案用演算法重複，對稱整齊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8138160" y="5394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可以打印：沒有太幼的部分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理論｜設計思維 Design Thinking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設計思維：以「人」為中心的解難方法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pinwh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1691640"/>
            <a:ext cx="1280160" cy="1280160"/>
          </a:xfrm>
          <a:prstGeom prst="ellipse">
            <a:avLst/>
          </a:prstGeom>
          <a:solidFill>
            <a:srgbClr val="163F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同理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395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Empathise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了解用家的感受和需要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51560" y="3886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3886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31720" y="2331720"/>
            <a:ext cx="45720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46120" y="1691640"/>
            <a:ext cx="1280160" cy="1280160"/>
          </a:xfrm>
          <a:prstGeom prst="ellipse">
            <a:avLst/>
          </a:prstGeom>
          <a:solidFill>
            <a:srgbClr val="1E5B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4612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2395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Define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清楚說出要解決的問題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337560" y="3886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37560" y="3886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2–3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17720" y="2331720"/>
            <a:ext cx="45720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532120" y="1691640"/>
            <a:ext cx="1280160" cy="1280160"/>
          </a:xfrm>
          <a:prstGeom prst="ellipse">
            <a:avLst/>
          </a:prstGeom>
          <a:solidFill>
            <a:srgbClr val="163F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3212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構思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395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Ideate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想出不同的方案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623560" y="3886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23560" y="3886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4–5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03720" y="2331720"/>
            <a:ext cx="45720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818120" y="1691640"/>
            <a:ext cx="1280160" cy="1280160"/>
          </a:xfrm>
          <a:prstGeom prst="ellipse">
            <a:avLst/>
          </a:prstGeom>
          <a:solidFill>
            <a:srgbClr val="1E5B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1812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7818120" y="2395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49808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把想法做出來試試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909560" y="3886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09560" y="3886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5–6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189720" y="2331720"/>
            <a:ext cx="45720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0104120" y="1691640"/>
            <a:ext cx="1280160" cy="1280160"/>
          </a:xfrm>
          <a:prstGeom prst="ellipse">
            <a:avLst/>
          </a:prstGeom>
          <a:solidFill>
            <a:srgbClr val="163F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10412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10104120" y="2395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78408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請用家試用、收集意見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195560" y="3886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195560" y="3886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7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0744200" y="4297680"/>
            <a:ext cx="0" cy="32004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172200" y="4617720"/>
            <a:ext cx="457200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72200" y="4297680"/>
            <a:ext cx="0" cy="32004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  <a:headEnd type="triangle"/>
          </a:ln>
        </p:spPr>
      </p:sp>
      <p:sp>
        <p:nvSpPr>
          <p:cNvPr id="42" name="Text 39"/>
          <p:cNvSpPr txBox="1"/>
          <p:nvPr/>
        </p:nvSpPr>
        <p:spPr>
          <a:xfrm>
            <a:off x="6446520" y="4681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迭代：測試後回到構思，改良成 v2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56692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31520" y="56692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設計思維不是一條直線：測試後發現問題，就要回頭修改，直至用家滿意。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理論｜計算思維 Computational Thinking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計算思維的四個概念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pinwh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1865376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1E5B47"/>
          </a:solidFill>
          <a:ln w="12700">
            <a:solidFill>
              <a:srgbClr val="1E5B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8653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設計杯墊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783080" y="2267712"/>
            <a:ext cx="0" cy="219456"/>
          </a:xfrm>
          <a:prstGeom prst="line">
            <a:avLst/>
          </a:prstGeom>
          <a:noFill/>
          <a:ln w="15875">
            <a:solidFill>
              <a:srgbClr val="4B57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2040" y="2487168"/>
            <a:ext cx="1402080" cy="0"/>
          </a:xfrm>
          <a:prstGeom prst="line">
            <a:avLst/>
          </a:prstGeom>
          <a:noFill/>
          <a:ln w="15875">
            <a:solidFill>
              <a:srgbClr val="4B575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2040" y="2487168"/>
            <a:ext cx="0" cy="219456"/>
          </a:xfrm>
          <a:prstGeom prst="line">
            <a:avLst/>
          </a:prstGeom>
          <a:noFill/>
          <a:ln w="15875">
            <a:solidFill>
              <a:srgbClr val="4B57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706624"/>
            <a:ext cx="609600" cy="365760"/>
          </a:xfrm>
          <a:prstGeom prst="roundRect">
            <a:avLst>
              <a:gd name="adj" fmla="val 20000"/>
            </a:avLst>
          </a:prstGeom>
          <a:solidFill>
            <a:srgbClr val="F5E6C2"/>
          </a:solidFill>
          <a:ln w="12700">
            <a:solidFill>
              <a:srgbClr val="D6A0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706624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圖案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0392" y="3209544"/>
            <a:ext cx="463296" cy="128016"/>
          </a:xfrm>
          <a:prstGeom prst="roundRect">
            <a:avLst>
              <a:gd name="adj" fmla="val 50000"/>
            </a:avLst>
          </a:prstGeom>
          <a:solidFill>
            <a:srgbClr val="DCE2DA"/>
          </a:solidFill>
          <a:ln w="12700">
            <a:solidFill>
              <a:srgbClr val="DCE2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" y="3429000"/>
            <a:ext cx="463296" cy="128016"/>
          </a:xfrm>
          <a:prstGeom prst="roundRect">
            <a:avLst>
              <a:gd name="adj" fmla="val 50000"/>
            </a:avLst>
          </a:prstGeom>
          <a:solidFill>
            <a:srgbClr val="DCE2DA"/>
          </a:solidFill>
          <a:ln w="12700">
            <a:solidFill>
              <a:srgbClr val="DCE2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83080" y="2487168"/>
            <a:ext cx="0" cy="219456"/>
          </a:xfrm>
          <a:prstGeom prst="line">
            <a:avLst/>
          </a:prstGeom>
          <a:noFill/>
          <a:ln w="15875">
            <a:solidFill>
              <a:srgbClr val="4B57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78280" y="2706624"/>
            <a:ext cx="609600" cy="365760"/>
          </a:xfrm>
          <a:prstGeom prst="roundRect">
            <a:avLst>
              <a:gd name="adj" fmla="val 20000"/>
            </a:avLst>
          </a:prstGeom>
          <a:solidFill>
            <a:srgbClr val="F5E6C2"/>
          </a:solidFill>
          <a:ln w="12700">
            <a:solidFill>
              <a:srgbClr val="D6A03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478280" y="2706624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尺寸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51432" y="3209544"/>
            <a:ext cx="463296" cy="128016"/>
          </a:xfrm>
          <a:prstGeom prst="roundRect">
            <a:avLst>
              <a:gd name="adj" fmla="val 50000"/>
            </a:avLst>
          </a:prstGeom>
          <a:solidFill>
            <a:srgbClr val="DCE2DA"/>
          </a:solidFill>
          <a:ln w="12700">
            <a:solidFill>
              <a:srgbClr val="DCE2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51432" y="3429000"/>
            <a:ext cx="463296" cy="128016"/>
          </a:xfrm>
          <a:prstGeom prst="roundRect">
            <a:avLst>
              <a:gd name="adj" fmla="val 50000"/>
            </a:avLst>
          </a:prstGeom>
          <a:solidFill>
            <a:srgbClr val="DCE2DA"/>
          </a:solidFill>
          <a:ln w="12700">
            <a:solidFill>
              <a:srgbClr val="DCE2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84120" y="2487168"/>
            <a:ext cx="0" cy="219456"/>
          </a:xfrm>
          <a:prstGeom prst="line">
            <a:avLst/>
          </a:prstGeom>
          <a:noFill/>
          <a:ln w="15875">
            <a:solidFill>
              <a:srgbClr val="4B575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79320" y="2706624"/>
            <a:ext cx="609600" cy="365760"/>
          </a:xfrm>
          <a:prstGeom prst="roundRect">
            <a:avLst>
              <a:gd name="adj" fmla="val 20000"/>
            </a:avLst>
          </a:prstGeom>
          <a:solidFill>
            <a:srgbClr val="F5E6C2"/>
          </a:solidFill>
          <a:ln w="12700">
            <a:solidFill>
              <a:srgbClr val="D6A03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79320" y="2706624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感受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252472" y="3209544"/>
            <a:ext cx="463296" cy="128016"/>
          </a:xfrm>
          <a:prstGeom prst="roundRect">
            <a:avLst>
              <a:gd name="adj" fmla="val 50000"/>
            </a:avLst>
          </a:prstGeom>
          <a:solidFill>
            <a:srgbClr val="DCE2DA"/>
          </a:solidFill>
          <a:ln w="12700">
            <a:solidFill>
              <a:srgbClr val="DCE2D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52472" y="3429000"/>
            <a:ext cx="463296" cy="128016"/>
          </a:xfrm>
          <a:prstGeom prst="roundRect">
            <a:avLst>
              <a:gd name="adj" fmla="val 50000"/>
            </a:avLst>
          </a:prstGeom>
          <a:solidFill>
            <a:srgbClr val="DCE2DA"/>
          </a:solidFill>
          <a:ln w="12700">
            <a:solidFill>
              <a:srgbClr val="DCE2D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71800" y="16824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2971800" y="21396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Decomposition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971800" y="2487168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把大問題拆成小問題。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例：設計杯墊 → 圖案、尺寸、用家感受。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17920" y="1481328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29" name="Image 1" descr="/tmp/claude-0/-home-user--/8f4841b7-9c00-5e04-aa8f-13e0236944cf/scratchpad/build/img/sym-eight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64208"/>
            <a:ext cx="1874520" cy="18745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641080" y="16824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模式識別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8641080" y="21396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Pattern Recognition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641080" y="2487168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找出重複的規律。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例：紅花地磚由 1/8 重複 8 次而成。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548640" y="3950208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77240" y="420624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77240" y="420624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懷舊花紋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1837944" y="420624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E3E7E1"/>
          </a:solidFill>
          <a:ln w="12700">
            <a:solidFill>
              <a:srgbClr val="E3E7E1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837944" y="420624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鮮豔顏色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777240" y="466344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77240" y="466344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夠大放得穩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1837944" y="466344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E3E7E1"/>
          </a:solidFill>
          <a:ln w="12700">
            <a:solidFill>
              <a:srgbClr val="E3E7E1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837944" y="466344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容易清潔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777240" y="512064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777240" y="512064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對比強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1837944" y="512064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E3E7E1"/>
          </a:solidFill>
          <a:ln w="12700">
            <a:solidFill>
              <a:srgbClr val="E3E7E1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1837944" y="512064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打印要快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777240" y="557784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E3E7E1"/>
          </a:solidFill>
          <a:ln w="12700">
            <a:solidFill>
              <a:srgbClr val="E3E7E1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77240" y="557784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可以掛起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1837944" y="5577840"/>
            <a:ext cx="950976" cy="347472"/>
          </a:xfrm>
          <a:prstGeom prst="roundRect">
            <a:avLst>
              <a:gd name="adj" fmla="val 50000"/>
            </a:avLst>
          </a:prstGeom>
          <a:solidFill>
            <a:srgbClr val="E3E7E1"/>
          </a:solidFill>
          <a:ln w="12700">
            <a:solidFill>
              <a:srgbClr val="E3E7E1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837944" y="557784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細小輕便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2971800" y="41513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抽象化</a:t>
            </a:r>
            <a:endParaRPr lang="en-US" sz="2200" dirty="0"/>
          </a:p>
        </p:txBody>
      </p:sp>
      <p:sp>
        <p:nvSpPr>
          <p:cNvPr id="51" name="Text 47"/>
          <p:cNvSpPr txBox="1"/>
          <p:nvPr/>
        </p:nvSpPr>
        <p:spPr>
          <a:xfrm>
            <a:off x="2971800" y="46085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52" name="Text 48"/>
          <p:cNvSpPr txBox="1"/>
          <p:nvPr/>
        </p:nvSpPr>
        <p:spPr>
          <a:xfrm>
            <a:off x="2971800" y="4956048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只保留最重要的資料。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例：只揀 3 個需要；把顏色轉成高度。</a:t>
            </a:r>
            <a:endParaRPr lang="en-US" sz="1400" dirty="0"/>
          </a:p>
        </p:txBody>
      </p:sp>
      <p:sp>
        <p:nvSpPr>
          <p:cNvPr id="53" name="Shape 49"/>
          <p:cNvSpPr/>
          <p:nvPr/>
        </p:nvSpPr>
        <p:spPr>
          <a:xfrm>
            <a:off x="6217920" y="3950208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54" name="Image 2" descr="/tmp/claude-0/-home-user--/8f4841b7-9c00-5e04-aa8f-13e0236944cf/scratchpad/build/img/stamp-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133088"/>
            <a:ext cx="1874520" cy="1874520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8641080" y="41513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</a:t>
            </a:r>
            <a:endParaRPr lang="en-US" sz="2200" dirty="0"/>
          </a:p>
        </p:txBody>
      </p:sp>
      <p:sp>
        <p:nvSpPr>
          <p:cNvPr id="56" name="Text 51"/>
          <p:cNvSpPr txBox="1"/>
          <p:nvPr/>
        </p:nvSpPr>
        <p:spPr>
          <a:xfrm>
            <a:off x="8641080" y="46085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57" name="Text 52"/>
          <p:cNvSpPr txBox="1"/>
          <p:nvPr/>
        </p:nvSpPr>
        <p:spPr>
          <a:xfrm>
            <a:off x="8641080" y="4956048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一步一步的解決方法。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例：重複 4 次：蓋印、鏡像、右轉 90°。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開始使用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打開花階磚設計工作室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0-welc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313786" y="1515892"/>
            <a:ext cx="2496312" cy="267873"/>
          </a:xfrm>
          <a:prstGeom prst="roundRect">
            <a:avLst>
              <a:gd name="adj" fmla="val 20481"/>
            </a:avLst>
          </a:prstGeom>
          <a:solidFill>
            <a:srgbClr val="FFFFFF">
              <a:alpha val="0"/>
            </a:srgbClr>
          </a:solidFill>
          <a:ln w="28575">
            <a:solidFill>
              <a:srgbClr val="B03A2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38574" y="348946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4138574" y="34894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840797" y="325183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840797" y="325183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948026" y="1480414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2948026" y="148041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571964" y="1739646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571964" y="173964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034272" y="1481328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輸入班別、學號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姓名可以不填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613648" y="204825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61364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34272" y="204825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按「開始任務」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13648" y="245973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613648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034272" y="2459736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塊小磚＝8 個步驟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完成後變成花磚；按小磚可跳到該步驟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613648" y="323697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613648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34272" y="3236976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存檔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下載／載入存檔（每課完結都要下載）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595360" y="4160520"/>
            <a:ext cx="3063240" cy="2240280"/>
          </a:xfrm>
          <a:prstGeom prst="roundRect">
            <a:avLst>
              <a:gd name="adj" fmla="val 4082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pic>
        <p:nvPicPr>
          <p:cNvPr id="29" name="Image 2" descr="/tmp/claude-0/-home-user--/8f4841b7-9c00-5e04-aa8f-13e0236944cf/scratchpad/build/img/qr-s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315968"/>
            <a:ext cx="1371600" cy="13716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287000" y="43891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 QR code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或輸入下面網址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8732520" y="58338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ken9991033.github.io/-/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Chrome 或 Edge 開啟；不用登入，資料只會存在這部電腦。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5｜步驟 1｜同理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揀一張用家卡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1-person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95360" y="1444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六位用家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187452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陳婆婆 82 歲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懷舊、對比強、夠大、易清潔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251460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阿明 38 歲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鮮豔、香港特色、易清潔、打印快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15468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Sophie 24 歲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香港特色、細小、可掛起、鮮豔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379476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何老師 45 歲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可拼成大圖、打印快、少用顏色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443484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小樂 7 歲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可愛、沒有尖角、夠大、摸得出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07492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黃先生 50 歲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摸得出、簡單大塊、沒有尖角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點選一張用家卡，再按「下一步」。建議四人一組抽同一位用家。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5｜步驟 1｜同理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模擬訪問：從答案中找出「需要」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1-int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44338" y="3225912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5444338" y="3225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927348" y="4245559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3927348" y="424555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178454" y="4427022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178454" y="442702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903720" y="265992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903720" y="265992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05933" y="2776576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405933" y="2776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34272" y="148132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點問題向用家提問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問題會變成對話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613648" y="221284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613648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9034272" y="221284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閱讀用家的回答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可按喇叭讀出來（如電腦有廣東話語音）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613648" y="29443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861364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034272" y="294436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點「底線」文字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＝找到一個需要，會放進收集箱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613648" y="367588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8613648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9034272" y="367588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需要收集箱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最少收集 3 個；按 × 可移除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8613648" y="440740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861364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034272" y="440740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換用家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已收集的需要會清除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完成條件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收集最少 3 個需要，頂部第 1 塊小磚就會變成花磚。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理論｜同理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同理心：從用家的角度看問題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scall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5544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同理心（Empathy）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理解別人的感受和處境，好像「穿上對方的鞋子」。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設計師怎樣找需要？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觀察：用家怎樣使用產品？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訪問：問開放式問題，例如「你平時會怎樣用？」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聆聽：留意用家的困難和感受。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用家說的話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背後的需要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設計準則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187452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18745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「年紀大，眼矇矇，顏色太淺我就睇唔清楚」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531352" y="2350008"/>
            <a:ext cx="18288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732520" y="187452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32520" y="18745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看得清楚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131552" y="2350008"/>
            <a:ext cx="18288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0332720" y="187452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332720" y="18745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顏色對比強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306324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97880" y="30632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「最怕啲罅隙藏住茶漬」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531352" y="3538728"/>
            <a:ext cx="18288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732520" y="306324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32520" y="30632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容易清潔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131552" y="3538728"/>
            <a:ext cx="18288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0332720" y="306324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332720" y="30632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凸起不太高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760720" y="42519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97880" y="4251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「行李箱已經好滿」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531352" y="4727448"/>
            <a:ext cx="18288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732520" y="425196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732520" y="42519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方便攜帶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31552" y="4727448"/>
            <a:ext cx="182880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0332720" y="425196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332720" y="42519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細小輕便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566928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56692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小組分享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每人用一句說出：「我的用家需要＿＿＿，因為＿＿＿。」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5｜步驟 2｜定義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定義問題：揀出最重要的 3 個需要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2-defi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964863" y="2569190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1964863" y="256919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949501" y="3835108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949501" y="38351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003268" y="4526394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003268" y="45263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44338" y="269016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444338" y="26901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4578" y="3986327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364578" y="398632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34272" y="148132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揀產品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有「用家建議」標籤可作參考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613648" y="221284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613648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9034272" y="221284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按重要次序點選 3 個需要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再按一次可取消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613648" y="29443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861364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034272" y="294436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 1–2 個設計風格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613648" y="34015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861364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9034272" y="340156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設計任務書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自動寫出「我們可以如何……？」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8613648" y="413308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8613648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034272" y="413308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檢查方法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電腦檢查／同學判斷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為甚麼把這個需要排第一？能說出理由，就是好的定義。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理論｜定義・抽象化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「我們可以如何……？」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pinwh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481328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我們可以如何為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【用家】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設計一個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【產品】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做到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【需要 1】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【需要 2】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和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【需要 3】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3063240"/>
            <a:ext cx="4056557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/tmp/claude-0/-home-user--/8f4841b7-9c00-5e04-aa8f-13e0236944cf/scratchpad/build/img/crop-brie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3965117" cy="3291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79517" y="3108960"/>
            <a:ext cx="6779083" cy="1554480"/>
          </a:xfrm>
          <a:prstGeom prst="roundRect">
            <a:avLst>
              <a:gd name="adj" fmla="val 5882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08117" y="3108960"/>
            <a:ext cx="632188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抽象化（Abstraction）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用家說了很多，設計師只保留最重要的資料，其他細節暫時放下。這樣問題才會清楚、可以檢查。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879517" y="4846320"/>
            <a:ext cx="6779083" cy="1554480"/>
          </a:xfrm>
          <a:prstGeom prst="roundRect">
            <a:avLst>
              <a:gd name="adj" fmla="val 5882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08117" y="4846320"/>
            <a:ext cx="632188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取捨：當需要互相矛盾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阿明要杯墊「夠大」，但六十個杯墊又要「打印快」。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哪一個較重要？有沒有兩全其美的方法？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5｜步驟 3｜模式識別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花階磚偵探：最少要畫哪一部分？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3-detective-selec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447288" y="2478458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3447288" y="247845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44338" y="3225912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444338" y="3225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525573" y="3152463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525573" y="315246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946550" y="3657966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946550" y="36579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34272" y="1481328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三個任務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紅花地磚、綠葉風車、拆解大問題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613648" y="2194560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61364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034272" y="2194560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揀一個部分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滑鼠移到選項上可以預覽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613648" y="2907792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613648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34272" y="2907792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沒有變灰的＝你揀的部分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613648" y="3410712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8613648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034272" y="3410712"/>
            <a:ext cx="2624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確定答案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答對後會播放「重組」動畫，看看電腦怎樣把一小部分變回整塊磚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紅花地磚：1/8（旋轉＋鏡像）；綠葉風車：1/4（只有旋轉，沒有鏡像）。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理論｜模式識別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對稱：找出最細的重複單位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pinwh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306324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ym-eight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2971800" cy="2971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572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紅花地磚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旋轉對稱 ＋ 鏡像對稱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280160" y="5349240"/>
            <a:ext cx="1508760" cy="411480"/>
          </a:xfrm>
          <a:prstGeom prst="roundRect">
            <a:avLst>
              <a:gd name="adj" fmla="val 48889"/>
            </a:avLst>
          </a:prstGeom>
          <a:solidFill>
            <a:srgbClr val="1E5B47"/>
          </a:solidFill>
          <a:ln w="12700">
            <a:solidFill>
              <a:srgbClr val="1E5B4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280160" y="5349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1/8 × 8 份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749040" y="1435608"/>
            <a:ext cx="306324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/tmp/claude-0/-home-user--/8f4841b7-9c00-5e04-aa8f-13e0236944cf/scratchpad/build/img/sym-quart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81328"/>
            <a:ext cx="2971800" cy="2971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94760" y="4572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綠葉風車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794760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只有旋轉對稱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26280" y="5349240"/>
            <a:ext cx="1508760" cy="411480"/>
          </a:xfrm>
          <a:prstGeom prst="roundRect">
            <a:avLst>
              <a:gd name="adj" fmla="val 48889"/>
            </a:avLst>
          </a:prstGeom>
          <a:solidFill>
            <a:srgbClr val="1E5B47"/>
          </a:solidFill>
          <a:ln w="12700">
            <a:solidFill>
              <a:srgbClr val="1E5B47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26280" y="5349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1/4 × 4 份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178040" y="1481328"/>
            <a:ext cx="4526280" cy="1005840"/>
          </a:xfrm>
          <a:prstGeom prst="roundRect">
            <a:avLst>
              <a:gd name="adj" fmla="val 909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406640" y="157276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旋轉對稱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圖案轉某個角度（例如 90°）之後，看起來一樣。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178040" y="2651760"/>
            <a:ext cx="4526280" cy="1005840"/>
          </a:xfrm>
          <a:prstGeom prst="roundRect">
            <a:avLst>
              <a:gd name="adj" fmla="val 909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406640" y="27432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鏡像對稱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沿一條線對摺，兩邊一模一樣。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178040" y="3822192"/>
            <a:ext cx="4526280" cy="1005840"/>
          </a:xfrm>
          <a:prstGeom prst="roundRect">
            <a:avLst>
              <a:gd name="adj" fmla="val 9091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406640" y="391363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最細重複單位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只要畫好這一部分，其餘都可以用「重複」完成。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7178040" y="5138928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60920" y="513892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不同的對稱方法（演算法），決定了最少要畫多少。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5｜步驟 3｜拆解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把大問題拆成小任務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11201400" cy="3589341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crop-tre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11109960" cy="34979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51980" y="2147088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151980" y="21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541450" y="3091522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541450" y="309152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041191" y="3563738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041191" y="356373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52303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66928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87552" y="5230368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大問題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為用家設計產品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310128" y="52303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3310128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730752" y="5230368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三個類別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圖案與顏色／尺寸與打印／用家感受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53328" y="52303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053328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473952" y="5230368"/>
            <a:ext cx="2167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小任務卡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先點卡，再點類別（也可以拖曳），最後按「檢查」；放錯的卡會回到下面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778240" y="5138928"/>
            <a:ext cx="2880360" cy="1280160"/>
          </a:xfrm>
          <a:prstGeom prst="roundRect">
            <a:avLst>
              <a:gd name="adj" fmla="val 7143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942832" y="5138928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拆解（Decomposition）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把複雜的問題拆成較小、容易處理的部分：可以逐一解決、分工合作、不會遺漏。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5｜步驟 4｜演算法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演算法工作坊：用積木重複圖案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4-algo-runn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72691" y="2919153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1872691" y="29191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757477" y="3774620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757477" y="37746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911096" y="426284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1911096" y="426284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271516" y="3476503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271516" y="347650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37099" y="460848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137099" y="460848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326173" y="341169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326173" y="341169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34272" y="1481328"/>
            <a:ext cx="2624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揀挑戰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1–3 必做，4 是延伸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13648" y="215798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61364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034272" y="2157984"/>
            <a:ext cx="2624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改積木上的數字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重複次數、右轉角度；剔選「要鏡像」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613648" y="2834640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613648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34272" y="2834640"/>
            <a:ext cx="2624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發光的積木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＝電腦正在執行的一步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613648" y="351129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613648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9034272" y="3511296"/>
            <a:ext cx="2624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變數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第幾次、已轉幾度、蓋印了幾次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8613648" y="4187952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861364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9034272" y="4187952"/>
            <a:ext cx="2624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箭嘴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目前的方向（右轉＝順時針）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613648" y="486460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8613648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9034272" y="4864608"/>
            <a:ext cx="2624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做出一樣的圖案就過關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執行（自動）／一步一步（逐步觀察）／重設；剔選「快速」會加快。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理論｜演算法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迴圈：用「重複」砌出對稱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pinwh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24231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tamp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2331720" cy="2331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886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蓋印 1 次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944368" y="2651760"/>
            <a:ext cx="384048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3337560" y="1435608"/>
            <a:ext cx="24231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2" descr="/tmp/claude-0/-home-user--/8f4841b7-9c00-5e04-aa8f-13e0236944cf/scratchpad/build/img/stamp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481328"/>
            <a:ext cx="2331720" cy="23317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91840" y="3886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加鏡像：2 份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779008" y="2651760"/>
            <a:ext cx="384048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6172200" y="1435608"/>
            <a:ext cx="24231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3" descr="/tmp/claude-0/-home-user--/8f4841b7-9c00-5e04-aa8f-13e0236944cf/scratchpad/build/img/stamp-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81328"/>
            <a:ext cx="2331720" cy="23317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126480" y="3886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右轉 90° 再做：4 份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613648" y="2651760"/>
            <a:ext cx="384048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9006840" y="1435608"/>
            <a:ext cx="24231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4" descr="/tmp/claude-0/-home-user--/8f4841b7-9c00-5e04-aa8f-13e0236944cf/scratchpad/build/img/stamp-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481328"/>
            <a:ext cx="2331720" cy="23317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61120" y="3886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 4 次：8 份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443484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F2A649"/>
          </a:solidFill>
          <a:ln w="12700">
            <a:solidFill>
              <a:srgbClr val="F2A649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76656" y="4434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 4 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4800600"/>
            <a:ext cx="228600" cy="1234440"/>
          </a:xfrm>
          <a:prstGeom prst="rect">
            <a:avLst/>
          </a:prstGeom>
          <a:solidFill>
            <a:srgbClr val="F2A649"/>
          </a:solidFill>
          <a:ln w="12700">
            <a:solidFill>
              <a:srgbClr val="F2A649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22960" y="484632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43C79E"/>
          </a:solidFill>
          <a:ln w="12700">
            <a:solidFill>
              <a:srgbClr val="43C79E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950976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蓋印 圖案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2960" y="5239512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F2A649"/>
          </a:solidFill>
          <a:ln w="12700">
            <a:solidFill>
              <a:srgbClr val="F2A64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50976" y="5239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 要鏡像 → 蓋印 鏡像圖案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22960" y="5632704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74A5F2"/>
          </a:solidFill>
          <a:ln w="12700">
            <a:solidFill>
              <a:srgbClr val="74A5F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950976" y="5632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右轉 90 度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6007608"/>
            <a:ext cx="1097280" cy="164592"/>
          </a:xfrm>
          <a:prstGeom prst="rect">
            <a:avLst/>
          </a:prstGeom>
          <a:solidFill>
            <a:srgbClr val="F2A649"/>
          </a:solidFill>
          <a:ln w="12700">
            <a:solidFill>
              <a:srgbClr val="F2A64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43400" y="443484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1B2420"/>
          </a:solidFill>
          <a:ln w="12700">
            <a:solidFill>
              <a:srgbClr val="1B242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526280" y="452628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4;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stamp(motif);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(mirror) stamp(flip(motif));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turnRight(90);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8641080" y="4434840"/>
            <a:ext cx="3063240" cy="1874520"/>
          </a:xfrm>
          <a:prstGeom prst="roundRect">
            <a:avLst>
              <a:gd name="adj" fmla="val 4878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869680" y="45720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規律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每次轉的角度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360° ÷ 重複次數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理論｜除錯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捉蟲：為甚麼圖案轉不回原位？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pinwh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3108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tamp-bu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3017520" cy="3017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× 60° = 240°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未轉夠一圈，分佈不平均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886200" y="1435608"/>
            <a:ext cx="3108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2" descr="/tmp/claude-0/-home-user--/8f4841b7-9c00-5e04-aa8f-13e0236944cf/scratchpad/build/img/stamp-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81328"/>
            <a:ext cx="3017520" cy="3017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3192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× 90° = 360°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393192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剛好一圈，整齊對稱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754380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除錯的步驟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580376" y="2002536"/>
            <a:ext cx="384048" cy="384048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580376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092440" y="1965960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75320" y="19659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預測結果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580376" y="2660904"/>
            <a:ext cx="384048" cy="384048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580376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092440" y="2624328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75320" y="26243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執行程式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580376" y="3319272"/>
            <a:ext cx="384048" cy="384048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580376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092440" y="3282696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75320" y="32826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找出錯處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7580376" y="3977640"/>
            <a:ext cx="384048" cy="384048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7580376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092440" y="3941064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275320" y="39410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7580376" y="4636008"/>
            <a:ext cx="384048" cy="384048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7580376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092440" y="4599432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275320" y="45994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再測試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7543800" y="544068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726680" y="54406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 6 片對稱的雪花，每次要轉幾度？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5｜步驟 4｜巢狀迴圈與條件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整個地板：巢狀迴圈與「如果」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4-flo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909621" y="3467862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2909621" y="346786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949501" y="4072738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949501" y="407273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60727" y="4331970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160727" y="43319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026310" y="4591202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2026310" y="459120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984955" y="345922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984955" y="345922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057339" y="341169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057339" y="341169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34272" y="148132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揀磚和規則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13648" y="19385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613648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034272" y="193852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外層迴圈：行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 4 次（行 = 1–4）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613648" y="259689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613648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34272" y="2596896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內層迴圈：列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每一行再重複 4 次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613648" y="325526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61364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9034272" y="3255264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「如果」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按行、列是單數或雙數，決定轉幾度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8613648" y="3913632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8613648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9034272" y="3913632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砌出來的地板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一塊一塊按次序放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613648" y="4572000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861364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9034272" y="4572000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和目標一樣就過關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完成條件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一塊磚挑戰 1–3，加最少一個地板挑戰。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理論｜演算法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一條規則，砌出整個地板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pinwh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floor-arc-sa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114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全部同一方向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4988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放一塊磚（轉 0°）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337560" y="1435608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2" descr="/tmp/claude-0/-home-user--/8f4841b7-9c00-5e04-aa8f-13e0236944cf/scratchpad/build/img/floor-arc-al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481328"/>
            <a:ext cx="2514600" cy="2514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83280" y="4114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隔一塊轉 90°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383280" y="44988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如果（行＋列）是單數 → 轉 90°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172200" y="1435608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3" descr="/tmp/claude-0/-home-user--/8f4841b7-9c00-5e04-aa8f-13e0236944cf/scratchpad/build/img/floor-arc-pinwhee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81328"/>
            <a:ext cx="2514600" cy="2514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17920" y="4114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四塊一組轉圈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6217920" y="44988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用「如果」判斷行、列的單雙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006840" y="1435608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4" descr="/tmp/claude-0/-home-user--/8f4841b7-9c00-5e04-aa8f-13e0236944cf/scratchpad/build/img/floor-truchet-random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481328"/>
            <a:ext cx="2514600" cy="2514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052560" y="4114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隨機旋轉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9052560" y="44988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轉（隨機 0–3）× 90°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48640" y="5257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77240" y="5257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巢狀迴圈：</a:t>
            </a:r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迴圈裏面再有迴圈。4 行 × 4 列 = 16 塊磚。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309360" y="5257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537960" y="5257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條件（如果）：</a:t>
            </a:r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按情況做不同的事。下學期 Delightex 的 IF／ELSE 也一樣。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5｜總結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今天學了甚麼？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redflo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5120640" cy="713232"/>
          </a:xfrm>
          <a:prstGeom prst="roundRect">
            <a:avLst>
              <a:gd name="adj" fmla="val 1282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813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14813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大問題 → 小任務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322576"/>
            <a:ext cx="5120640" cy="713232"/>
          </a:xfrm>
          <a:prstGeom prst="roundRect">
            <a:avLst>
              <a:gd name="adj" fmla="val 1282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32257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模式識別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2286000" y="232257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找出最細重複單位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163824"/>
            <a:ext cx="5120640" cy="713232"/>
          </a:xfrm>
          <a:prstGeom prst="roundRect">
            <a:avLst>
              <a:gd name="adj" fmla="val 1282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16382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抽象化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316382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只保留 3 個最重要的需要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005072"/>
            <a:ext cx="5120640" cy="713232"/>
          </a:xfrm>
          <a:prstGeom prst="roundRect">
            <a:avLst>
              <a:gd name="adj" fmla="val 1282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00507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40050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迴圈、條件、除錯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937760"/>
            <a:ext cx="5120640" cy="1325880"/>
          </a:xfrm>
          <a:prstGeom prst="roundRect">
            <a:avLst>
              <a:gd name="adj" fmla="val 6897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93776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下一課預告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用今天的演算法設計自己的花階磚，做成 3D 原型，再請同學扮演用家測試。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14813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出口卡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080760" y="2039112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08076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196596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紅花地磚最少要畫哪一部分？為甚麼？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6080760" y="2752344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08076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267919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 8 次，每次要轉幾度才剛好一圈？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080760" y="3465576"/>
            <a:ext cx="365760" cy="365760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08076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339242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你的用家最重要的需要是甚麼？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6035040" y="425196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pic>
        <p:nvPicPr>
          <p:cNvPr id="30" name="Image 1" descr="/tmp/claude-0/-home-user--/8f4841b7-9c00-5e04-aa8f-13e0236944cf/scratchpad/build/img/c-filemenu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434840"/>
            <a:ext cx="2743200" cy="15910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144000" y="44348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下課前一定要做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右上角「存檔」→「下載存檔（.json）」，再上載到 Google Classroom。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163F32">
              <a:alpha val="92000"/>
            </a:srgbClr>
          </a:solidFill>
          <a:ln w="12700">
            <a:solidFill>
              <a:srgbClr val="163F32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A0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6｜設計與計算思維（二）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構思 → 原型 → 測試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設計花階磚、做 3D 原型、請同學扮演用家測試，再改良成 v2。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389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價值觀：團結、承擔精神、誠信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6｜設計與計算思維（二）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今天的學習目標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6035040" cy="868680"/>
          </a:xfrm>
          <a:prstGeom prst="roundRect">
            <a:avLst>
              <a:gd name="adj" fmla="val 10526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8132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148132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把演算法應用在設計；認識 3D 打印，以及「顏色 → 高度」的數據表示。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487168"/>
            <a:ext cx="6035040" cy="868680"/>
          </a:xfrm>
          <a:prstGeom prst="roundRect">
            <a:avLst>
              <a:gd name="adj" fmla="val 10526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48716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248716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製作原型（v1）；請同學測試，並根據意見改良（v2）。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493008"/>
            <a:ext cx="6035040" cy="868680"/>
          </a:xfrm>
          <a:prstGeom prst="roundRect">
            <a:avLst>
              <a:gd name="adj" fmla="val 10526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4930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價值觀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965960" y="34930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團結、承擔精神：認真給別人意見；如實作創作聲明（誠信）。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949440" y="1481328"/>
            <a:ext cx="4709160" cy="2880360"/>
          </a:xfrm>
          <a:prstGeom prst="roundRect">
            <a:avLst>
              <a:gd name="adj" fmla="val 3175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78040" y="1572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先載入上一課的存檔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1956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按右上角「存檔」圖示 →「載入存檔…」→ 選上一課下載的 .json 檔</a:t>
            </a:r>
            <a:endParaRPr lang="en-US" sz="1250" dirty="0"/>
          </a:p>
        </p:txBody>
      </p:sp>
      <p:pic>
        <p:nvPicPr>
          <p:cNvPr id="17" name="Image 1" descr="/tmp/claude-0/-home-user--/8f4841b7-9c00-5e04-aa8f-13e0236944cf/scratchpad/build/img/c-filemenu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450592"/>
            <a:ext cx="3063240" cy="177345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4663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課堂流程（雙連堂 70 分鐘）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48640" y="5074920"/>
            <a:ext cx="793569" cy="749808"/>
          </a:xfrm>
          <a:prstGeom prst="rect">
            <a:avLst/>
          </a:prstGeom>
          <a:solidFill>
            <a:srgbClr val="F5E6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5074920"/>
            <a:ext cx="66555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載入存檔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重溫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274320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0'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342209" y="5074920"/>
            <a:ext cx="3967843" cy="749808"/>
          </a:xfrm>
          <a:prstGeom prst="rect">
            <a:avLst/>
          </a:prstGeom>
          <a:solidFill>
            <a:srgbClr val="1E5B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433649" y="5074920"/>
            <a:ext cx="383982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設計花階磚 v1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067889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5'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310051" y="5074920"/>
            <a:ext cx="1269710" cy="749808"/>
          </a:xfrm>
          <a:prstGeom prst="rect">
            <a:avLst/>
          </a:prstGeom>
          <a:solidFill>
            <a:srgbClr val="163F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01491" y="5074920"/>
            <a:ext cx="1141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6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原型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5035731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30'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579761" y="5074920"/>
            <a:ext cx="2698133" cy="749808"/>
          </a:xfrm>
          <a:prstGeom prst="rect">
            <a:avLst/>
          </a:prstGeom>
          <a:solidFill>
            <a:srgbClr val="1E5B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671201" y="5074920"/>
            <a:ext cx="257011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7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測試與改良 v2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6305441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38'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277894" y="5074920"/>
            <a:ext cx="1587137" cy="749808"/>
          </a:xfrm>
          <a:prstGeom prst="rect">
            <a:avLst/>
          </a:prstGeom>
          <a:solidFill>
            <a:srgbClr val="163F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369334" y="5074920"/>
            <a:ext cx="145912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2E5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8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作品卡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9003574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55'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0865031" y="5074920"/>
            <a:ext cx="793569" cy="749808"/>
          </a:xfrm>
          <a:prstGeom prst="rect">
            <a:avLst/>
          </a:prstGeom>
          <a:solidFill>
            <a:srgbClr val="F5E6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956471" y="5074920"/>
            <a:ext cx="66555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作品牆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10590711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65'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11384280" y="58613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70'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5｜構思・原型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設計花階磚：畫面介紹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5-edi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66190" y="189518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1066190" y="189518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143000" y="3083334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143000" y="30833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642262" y="3990647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1642262" y="399064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91456" y="2461176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791456" y="246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869741" y="2569190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869741" y="256919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018934" y="1925429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018934" y="192542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095744" y="4167789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7095744" y="416778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2602382" y="5096706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2602382" y="50967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034272" y="1481328"/>
            <a:ext cx="26243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形狀庫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點一下就加入畫布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613648" y="202539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8613648" y="20253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9034272" y="202539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背景顏色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8613648" y="243687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8613648" y="24368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034272" y="2436876"/>
            <a:ext cx="26243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對稱方法（演算法）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萬花筒 8 份、風車 4 份……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613648" y="298094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8613648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9034272" y="2980944"/>
            <a:ext cx="26243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綠色＝基本區域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在這裏設計，其餘自動完成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8613648" y="3525012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8613648" y="35250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9034272" y="3525012"/>
            <a:ext cx="26243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控制點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 ● 旋轉，拖曳 ■ 放大縮小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8613648" y="4069080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8613648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9034272" y="4069080"/>
            <a:ext cx="26243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形狀設定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顏色、大小、闊窄、角度、層次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613648" y="461314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2" name="Text 38"/>
          <p:cNvSpPr txBox="1"/>
          <p:nvPr/>
        </p:nvSpPr>
        <p:spPr>
          <a:xfrm>
            <a:off x="8613648" y="46131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9034272" y="4613148"/>
            <a:ext cx="26243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地板預覽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看看拼起來的效果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613648" y="515721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5" name="Text 41"/>
          <p:cNvSpPr txBox="1"/>
          <p:nvPr/>
        </p:nvSpPr>
        <p:spPr>
          <a:xfrm>
            <a:off x="8613648" y="5157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9034272" y="5157216"/>
            <a:ext cx="26243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狀態列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顯示演算法幫你重複了多少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點選畫布上任何一份複本都可以拖曳；所有複本會一齊移動。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5｜演算法的威力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放一個形狀，電腦變出八個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5-editor-fir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37837" y="2862986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4637837" y="286298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447288" y="2733370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3447288" y="27333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137099" y="2344522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137099" y="234452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986430" y="5096706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2986430" y="50967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34272" y="148132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你加入的花瓣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實線框＝真正的形狀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613648" y="221284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613648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034272" y="221284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電腦自動複製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虛線框＝演算法重複出來的 7 份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613648" y="29443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61364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34272" y="294436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基本區域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在綠色部分設計最整齊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613648" y="367588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8613648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034272" y="367588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狀態列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個形狀 × 8 份 ＝ 8 個圖案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595360" y="4526280"/>
            <a:ext cx="3063240" cy="1280160"/>
          </a:xfrm>
          <a:prstGeom prst="roundRect">
            <a:avLst>
              <a:gd name="adj" fmla="val 7143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778240" y="46177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個形狀 × 8 份</a:t>
            </a:r>
            <a:endParaRPr lang="en-US" sz="1700" dirty="0"/>
          </a:p>
          <a:p>
            <a:pPr indent="0" marL="0">
              <a:buNone/>
            </a:pPr>
            <a:r>
              <a:rPr lang="en-US" sz="22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72 個圖案！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如果沒有演算法，要自己畫多少次？這就是「迴圈」幫我們省下的工作。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5｜操作技巧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滑鼠與鍵盤小技巧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583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想做甚麼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移動形狀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拖曳（任何一份複本都可以）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旋轉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拖曳 ● 控制點，或按 [ 和 ]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放大縮小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拖曳 ■ 控制點，或滾動滑鼠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微調位置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方向鍵（加 Shift 每次移 5）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刪除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Delete 鍵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復原／重做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Ctrl + Z ／ Ctrl + Y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複製形狀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Ctrl + D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取消選取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Esc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498080" y="1481328"/>
            <a:ext cx="4206240" cy="2651760"/>
          </a:xfrm>
          <a:prstGeom prst="roundRect">
            <a:avLst>
              <a:gd name="adj" fmla="val 3448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2668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種形狀</a:t>
            </a:r>
            <a:endParaRPr lang="en-US" sz="1600" dirty="0"/>
          </a:p>
        </p:txBody>
      </p:sp>
      <p:pic>
        <p:nvPicPr>
          <p:cNvPr id="8" name="Image 1" descr="/tmp/claude-0/-home-user--/8f4841b7-9c00-5e04-aa8f-13e0236944cf/scratchpad/build/img/shape-libra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011680"/>
            <a:ext cx="3474720" cy="208483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498080" y="434340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726680" y="44805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範例磚與隨機靈感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可以作起點，但要加入自己的改動；作品卡的「創作聲明」會如實列出。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5｜設計原則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設計小貼士：讓花階磚更好看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636776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4813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中心有重點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在中心放圓形、八角星或小花。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2648" y="2532888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2648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377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深淺要對比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淺色背景配深色圖案（或相反）。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2648" y="3429000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12648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2735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邊角要連接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在角落放圓形，四塊拼起來變成完整圖案。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12648" y="4325112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12648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16966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 2–5 種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傳統花階磚顏色不多，也較易打印。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12648" y="5221224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12648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506577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常看地板預覽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一塊好看，拼起來也要好看。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20840" y="1435608"/>
            <a:ext cx="50292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1" descr="/tmp/claude-0/-home-user--/8f4841b7-9c00-5e04-aa8f-13e0236944cf/scratchpad/build/img/floor-redflow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81328"/>
            <a:ext cx="493776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5｜原型 v1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即時檢查設計準則，儲存 v1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435608"/>
            <a:ext cx="2523744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c-criteri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81328"/>
            <a:ext cx="2432304" cy="4937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591056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B4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1591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148132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電腦檢查已達到（例如對比度 4.5 以上）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459736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A0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2459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A0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235000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部分達到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接近了，可以再調整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3A2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321868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未達到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按提示修改，例如開啟圓角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197096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F7B7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234440" y="40873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同學判斷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例如「懷舊花紋」，由測試員評分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5074920"/>
            <a:ext cx="7863840" cy="1325880"/>
          </a:xfrm>
          <a:prstGeom prst="roundRect">
            <a:avLst>
              <a:gd name="adj" fmla="val 6897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516636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滿意後按「儲存為 v1」→ 請同學測試 → 修改後按「儲存為 v2（改良版）」。同學的建議也會顯示在這裏。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6｜原型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原型：看看打印出來的樣子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6-3d-r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18334" y="1959994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2218334" y="19599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603858" y="281978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1603858" y="281978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983480" y="1959994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983480" y="19599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96482" y="189518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596482" y="189518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80530" y="3973365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980530" y="39733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788506" y="4327649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788506" y="432764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34272" y="148132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預覽模式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真實顏色／單色打印／雙色打印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13648" y="213969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61364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034272" y="2139696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模型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拖曳旋轉，滾動滑鼠放大縮小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613648" y="279806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613648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034272" y="2798064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自動旋轉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613648" y="325526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61364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9034272" y="3255264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產品款式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杯墊、迷你磚、鎖匙扣、圓形……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8613648" y="3913632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8613648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9034272" y="3913632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圓角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沒有尖角，較安全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613648" y="4572000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861364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9034272" y="4572000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 → 高度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每種顏色設為平、低或高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向下捲動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右邊還有「打印資料」、「打印前檢查」及「下載 STL」。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理論｜3D 打印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打印是怎樣運作的？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4944" y="1581912"/>
            <a:ext cx="402336" cy="402336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94944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15727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模型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03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檔案：用很多三角形記錄立體表面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090672" y="2304288"/>
            <a:ext cx="265176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83280" y="1481328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9584" y="1581912"/>
            <a:ext cx="402336" cy="402336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529584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041648" y="15727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切片軟件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103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把模型切成一層層（每層約 0.2 mm）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25312" y="2304288"/>
            <a:ext cx="265176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217920" y="1481328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64224" y="1581912"/>
            <a:ext cx="402336" cy="402336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364224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876288" y="15727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打印機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103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噴嘴把熱熔塑膠（PLA）逐層擠出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759952" y="2304288"/>
            <a:ext cx="265176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52560" y="1481328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98864" y="1581912"/>
            <a:ext cx="402336" cy="402336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9198864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710928" y="15727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成品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9281160" y="2103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冷卻後成形，不需支撐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杯墊的剖面（毫米）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2960" y="4572000"/>
            <a:ext cx="6035040" cy="822960"/>
          </a:xfrm>
          <a:prstGeom prst="rect">
            <a:avLst/>
          </a:prstGeom>
          <a:solidFill>
            <a:srgbClr val="EEE6D3"/>
          </a:solidFill>
          <a:ln w="12700">
            <a:solidFill>
              <a:srgbClr val="4B575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737360" y="4297680"/>
            <a:ext cx="1463040" cy="274320"/>
          </a:xfrm>
          <a:prstGeom prst="rect">
            <a:avLst/>
          </a:prstGeom>
          <a:solidFill>
            <a:srgbClr val="B03A2E"/>
          </a:solidFill>
          <a:ln w="12700">
            <a:solidFill>
              <a:srgbClr val="4B575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0" y="4023360"/>
            <a:ext cx="1463040" cy="548640"/>
          </a:xfrm>
          <a:prstGeom prst="rect">
            <a:avLst/>
          </a:prstGeom>
          <a:solidFill>
            <a:srgbClr val="1E5B47"/>
          </a:solidFill>
          <a:ln w="12700">
            <a:solidFill>
              <a:srgbClr val="4B575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012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底座（平）2.4 mm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73736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 +0.8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 +1.6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" y="54681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7B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 mm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498080" y="342900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726680" y="3429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迷你磚 40 mm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692640" y="3429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6–14 分鐘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7498080" y="429768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26680" y="4297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杯墊 80 mm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969264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25–50 分鐘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7498080" y="516636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726680" y="5166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線材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692640" y="5166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PLA，約 4–20 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理論｜抽象化・數據表示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3D 打印機看不懂顏色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52120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render-3d-r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5120640" cy="2880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設計（真實顏色）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806440" y="2926080"/>
            <a:ext cx="50292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6446520" y="1435608"/>
            <a:ext cx="52120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2" descr="/tmp/claude-0/-home-user--/8f4841b7-9c00-5e04-aa8f-13e0236944cf/scratchpad/build/img/render-3d-dua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81328"/>
            <a:ext cx="5120640" cy="2880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9224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打印（雙色：底座＋凸起）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50749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49808" y="50749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用高度代表顏色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背景＝平；圖案＝低或高。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297680" y="50749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498848" y="50749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同一高度會分不出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兩種顏色一樣高，單色打印時會混在一起。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046720" y="50749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47888" y="50749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雙色打印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在切片軟件於 2.4 mm 加入「暫停／換料」。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6｜原型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打印前檢查，下載 3D 模型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53980" y="1435608"/>
            <a:ext cx="30503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c-printpanel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700" y="1481328"/>
            <a:ext cx="2958900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92813" y="1520830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392813" y="152083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392813" y="304742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392813" y="304742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392813" y="3406049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392813" y="340604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392813" y="4821174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392813" y="482117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2813" y="528642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392813" y="528642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66928" y="15727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66928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87552" y="1572768"/>
            <a:ext cx="7242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打印資料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尺寸、總高度、估計時間、用料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66928" y="244144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566928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987552" y="2441448"/>
            <a:ext cx="7242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少於 1 mm 的部分可能印不出：把形狀放大或加闊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66928" y="33101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566928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87552" y="3310128"/>
            <a:ext cx="7242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打印前檢查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三項都剔選：尺寸款式、沒有太幼、高度分得開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66928" y="417880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566928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987552" y="4178808"/>
            <a:ext cx="7242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 3D 模型（STL）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單色、雙色打印都用這個檔案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66928" y="504748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566928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87552" y="5047488"/>
            <a:ext cx="7242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下載分色模型（ZIP）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多色打印機（例如 AMS）使用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48640" y="5897880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31520" y="589788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完成條件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剔選三項打印前檢查，或下載 STL。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7｜測試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請同學扮演你的用家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7-tes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56002" y="2811140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2756002" y="28111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832811" y="330368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2832811" y="330368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597957" y="3601799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597957" y="360179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98694" y="4159148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098694" y="41591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34272" y="1481328"/>
            <a:ext cx="2624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代入用家身份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測試員要用用家的眼光評分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613648" y="223113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613648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034272" y="223113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看設計 v1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613648" y="268833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613648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34272" y="2688336"/>
            <a:ext cx="2624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 3 個準則評分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😀 做到　😐 部分做到　😟 未做到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613648" y="343814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8613648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034272" y="3438144"/>
            <a:ext cx="2624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電腦檢查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只作參考，由測試員判斷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613648" y="4187952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861364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9034272" y="4187952"/>
            <a:ext cx="2624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再向下捲動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揀「讚」和「建議」，寫一句話，輸入測試員班號，按「提交意見」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與鄰座交換座位：你測試他的作品，他測試你的作品。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理論｜測試・迭代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好意見是怎樣的？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846320" cy="1737360"/>
          </a:xfrm>
          <a:prstGeom prst="roundRect">
            <a:avLst>
              <a:gd name="adj" fmla="val 5263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好意見 ＝ 具體 ＋ 根據準則 ＋ 有禮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先讚，後建議：說出做得好的地方，再提出可以改良的地方。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6DAD5"/>
          </a:solidFill>
          <a:ln w="12700">
            <a:solidFill>
              <a:srgbClr val="F6DAD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429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　</a:t>
            </a:r>
            <a:pPr indent="0" marL="0">
              <a:buNone/>
            </a:pPr>
            <a:r>
              <a:rPr lang="en-US" sz="16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「唔好睇。」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480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　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「花紋很有懷舊感；綠色可以深一點，婆婆會看得更清楚。」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715000" y="1435608"/>
            <a:ext cx="6035040" cy="3434715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/tmp/claude-0/-home-user--/8f4841b7-9c00-5e04-aa8f-13e0236944cf/scratchpad/build/img/s7-compa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81328"/>
            <a:ext cx="5943600" cy="33432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60720" y="49560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 → 同學意見 → v2：根據意見修改，並說出改了甚麼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580644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迭代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設計很少一次就成功。測試、修改、再測試，作品就會愈來愈好。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6｜步驟 8｜分享與反思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完成作品卡並提交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772400" cy="44119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s8-card-p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7680960" cy="4320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249363" y="249574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249363" y="249574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750101" y="4180751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750101" y="41807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750101" y="5044859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750101" y="504485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219810" y="2439573"/>
            <a:ext cx="347472" cy="347472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1219810" y="243957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61364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6136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34272" y="1481328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我學到了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揀最多 3 項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613648" y="2048256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61364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034272" y="2048256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我最滿意的地方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 1–2 項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613648" y="261518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613648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34272" y="2615184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創作聲明（誠信）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如實剔選：範例磚、隨機靈感、同學意見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613648" y="339242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8613648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034272" y="3392424"/>
            <a:ext cx="2624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作品卡預覽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自動整合用家、任務書、設計、3D、演算法、測試及 v1 → v2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613648" y="4352544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8613648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9034272" y="4352544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向下捲動 → 下載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作品卡（PNG）、3D 模型（STL）、存檔（JSON）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48640" y="5998464"/>
            <a:ext cx="7680960" cy="512064"/>
          </a:xfrm>
          <a:prstGeom prst="roundRect">
            <a:avLst>
              <a:gd name="adj" fmla="val 14286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599846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把作品卡（PNG）及存檔（JSON）上載到 Google Classroom。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價值教育｜誠信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如實說明協助及來源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2376" y="1636776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22376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1645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平台自動記錄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用了範例磚、隨機靈感、同學意見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862072" y="2350008"/>
            <a:ext cx="265176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154680" y="1481328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28416" y="1636776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328416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867912" y="1645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學生確認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在「創作聲明」剔選或更正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68112" y="2350008"/>
            <a:ext cx="265176" cy="0"/>
          </a:xfrm>
          <a:prstGeom prst="line">
            <a:avLst/>
          </a:prstGeom>
          <a:noFill/>
          <a:ln w="25400">
            <a:solidFill>
              <a:srgbClr val="6F7B7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760720" y="1481328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34456" y="1636776"/>
            <a:ext cx="420624" cy="420624"/>
          </a:xfrm>
          <a:prstGeom prst="ellipse">
            <a:avLst/>
          </a:prstGeom>
          <a:solidFill>
            <a:srgbClr val="1E5B4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34456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1645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印在作品卡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989320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老師和同學都看得到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3474720"/>
            <a:ext cx="7498080" cy="1234440"/>
          </a:xfrm>
          <a:prstGeom prst="roundRect">
            <a:avLst>
              <a:gd name="adj" fmla="val 7407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347472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討論：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用了範例磚，作品還算是你的嗎？你改了多少？構思是誰的？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93776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49377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連結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和課次 12「如實標示 AI 協助及素材來源」一樣：用了甚麼工具和協助，都要說清楚（真理：誠信）。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386946" y="1435608"/>
            <a:ext cx="3317374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1" descr="/tmp/claude-0/-home-user--/8f4841b7-9c00-5e04-aa8f-13e0236944cf/scratchpad/build/img/design-c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666" y="1481328"/>
            <a:ext cx="3225934" cy="493776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513315" y="5757428"/>
            <a:ext cx="3064637" cy="365394"/>
          </a:xfrm>
          <a:prstGeom prst="roundRect">
            <a:avLst>
              <a:gd name="adj" fmla="val 15015"/>
            </a:avLst>
          </a:prstGeom>
          <a:solidFill>
            <a:srgbClr val="FFFFFF">
              <a:alpha val="0"/>
            </a:srgbClr>
          </a:solidFill>
          <a:ln w="28575">
            <a:solidFill>
              <a:srgbClr val="B03A2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206240" y="57972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作品卡上的「創作聲明」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863840" y="5952744"/>
            <a:ext cx="631187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課次 6｜總結活動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全班地板：每一塊磚拼成一幅大圖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7040880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class-flo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6949440" cy="34930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82128" y="148132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8821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02752" y="148132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老師匯入全班存檔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教師工具 → 全班作品牆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882128" y="235000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882128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302752" y="235000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砌成全班地板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可下載 PNG 在課室展示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882128" y="321868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882128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302752" y="321868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輸出打印盤 STL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迷你磚 40 mm，一盤最多 25 件（約 3–4 小時）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882128" y="4087368"/>
            <a:ext cx="310896" cy="310896"/>
          </a:xfrm>
          <a:prstGeom prst="ellipse">
            <a:avLst/>
          </a:prstGeom>
          <a:solidFill>
            <a:srgbClr val="B03A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882128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408736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B57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實物貼在展板上，拼成真正的全班地板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53035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5E6C2"/>
          </a:solidFill>
          <a:ln w="12700">
            <a:solidFill>
              <a:srgbClr val="F5E6C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53035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團結　</a:t>
            </a:r>
            <a:pPr indent="0" marL="0">
              <a:buNone/>
            </a:pPr>
            <a:r>
              <a:rPr lang="en-US" sz="13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每一位同學的作品，都是全班地板的一部分。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設計思維 × 計算思維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274320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設計思維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計算思維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我做了甚麼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認識用家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同理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收集資料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訪問用家，收集需要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定義問題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抽象化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排出 3 個最重要的需要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花階磚偵探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拆解、模式識別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找出最細重複單位；拆解任務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演算法工作坊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構思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迴圈、條件、除錯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用積木重複圖案、砌地板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設計花階磚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構思、原型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演算法、抽象化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設計並儲存 v1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3D 原型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原型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數據表示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顏色 → 高度，下載 STL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測試與改良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測試、迭代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收集意見，改良成 v2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作品卡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分享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反思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創作聲明，提交作品</a:t>
                      </a:r>
                      <a:endParaRPr lang="en-US" sz="14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延伸挑戰與下學期預告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35608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/tmp/claude-0/-home-user--/8f4841b7-9c00-5e04-aa8f-13e0236944cf/scratchpad/build/img/tile-sn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2560320" cy="2560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83280" y="15544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雪花掛飾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在步驟 6 揀「圓形掛飾」，步驟 5 用「雪花」對稱：重複 6 次，每次轉 360 ÷ 6 = 60°。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6583680" y="1481328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F2F4F0"/>
          </a:solidFill>
          <a:ln w="12700">
            <a:solidFill>
              <a:srgbClr val="F2F4F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12280" y="16002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更多挑戰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「自由」對稱：不用演算法，自己畫整塊磚，比較要花多少時間。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打開「看看 JavaScript 版本」，比較積木和文字程式。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挑戰「黃先生」：設計用手也摸得出的杯墊。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34340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D2E5DA"/>
          </a:solidFill>
          <a:ln w="12700">
            <a:solidFill>
              <a:srgbClr val="D2E5D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434340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下學期：Delightex 三維場景＋ CoBlocks 編程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今天學到的迴圈、變數、隨機數及 IF／ELSE 會再用上；你設計的花階磚圖片，也可以放進「我的至善島」作地板素材。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5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附錄｜教師參考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評估量表</a:t>
            </a:r>
            <a:endParaRPr lang="en-US" sz="3000" dirty="0"/>
          </a:p>
        </p:txBody>
      </p:sp>
      <p:pic>
        <p:nvPicPr>
          <p:cNvPr id="4" name="Image 0" descr="/tmp/claude-0/-home-user--/8f4841b7-9c00-5e04-aa8f-13e0236944cf/scratchpad/build/img/tile-blues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10896"/>
            <a:ext cx="603504" cy="603504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06040"/>
                <a:gridCol w="2331720"/>
                <a:gridCol w="2011680"/>
                <a:gridCol w="246888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優異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良好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達標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待改善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4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同理與定義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個準則有清楚理由，能說出取捨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準則合理，配合用家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 3 個準則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準則與用家無關或不完整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計算思維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完成全部挑戰（包括雪花），能解釋 360 ÷ n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完成挑戰 1–3 及一個地板挑戰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完成部分挑戰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未能完成挑戰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設計與原型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符合全部準則，地板連貫，可以打印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大部分準則做到，可以打印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有完整設計（v1）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設計未完成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測試與改良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v2 修改有明確根據，明顯改善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有根據意見修改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有收集意見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沒有測試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誠信及協作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如實聲明；給具體而有禮的意見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如實聲明；有給意見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有聲明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2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沒有聲明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7B7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中二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花階磚設計工作室：設計與計算思維（課次 5–6）</dc:title>
  <dc:subject>PptxGenJS Presentation</dc:subject>
  <dc:creator>中二級資訊及通訊科技科</dc:creator>
  <cp:lastModifiedBy>中二級資訊及通訊科技科</cp:lastModifiedBy>
  <cp:revision>1</cp:revision>
  <dcterms:created xsi:type="dcterms:W3CDTF">2026-09-29T07:00:39Z</dcterms:created>
  <dcterms:modified xsi:type="dcterms:W3CDTF">2026-09-29T07:00:39Z</dcterms:modified>
</cp:coreProperties>
</file>