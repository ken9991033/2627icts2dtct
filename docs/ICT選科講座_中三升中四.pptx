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6a9122ae-e9b7-e5b7-e8e7-37a39ec45acb}">
          <p14:sldIdLst>
            <p14:sldId id="256"/>
            <p14:sldId id="257"/>
            <p14:sldId id="258"/>
            <p14:sldId id="259"/>
          </p14:sldIdLst>
        </p14:section>
        <p14:section name="課程地圖" id="{5d7bd473-ff33-f8e2-f31b-eb1a51618d06}">
          <p14:sldIdLst>
            <p14:sldId id="260"/>
            <p14:sldId id="261"/>
            <p14:sldId id="262"/>
            <p14:sldId id="263"/>
          </p14:sldIdLst>
        </p14:section>
        <p14:section name="選修與專題" id="{d8841ce0-810e-4b7a-20f2-ba1f51d6ed34}">
          <p14:sldIdLst>
            <p14:sldId id="264"/>
            <p14:sldId id="265"/>
            <p14:sldId id="266"/>
            <p14:sldId id="267"/>
          </p14:sldIdLst>
        </p14:section>
        <p14:section name="評核與出路" id="{55ccf20c-0e6b-50ee-574c-8e0ce0987dc1}">
          <p14:sldIdLst>
            <p14:sldId id="268"/>
            <p14:sldId id="269"/>
            <p14:sldId id="270"/>
            <p14:sldId id="271"/>
          </p14:sldIdLst>
        </p14:section>
        <p14:section name="總結" id="{69a61b42-2e7b-9f9b-11d1-d19d1ee4d2df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比重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B4790"/>
              </a:solidFill>
              <a:effectLst/>
            </c:spPr>
          </c:dPt>
          <c:dPt>
            <c:idx val="1"/>
            <c:bubble3D val="0"/>
            <c:spPr>
              <a:solidFill>
                <a:srgbClr val="F43F7F"/>
              </a:solidFill>
              <a:effectLst/>
            </c:spPr>
          </c:dPt>
          <c:dPt>
            <c:idx val="2"/>
            <c:bubble3D val="0"/>
            <c:spPr>
              <a:solidFill>
                <a:srgbClr val="0B7FB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卷一 必修部分</c:v>
                </c:pt>
                <c:pt idx="1">
                  <c:v>卷二 選修部分</c:v>
                </c:pt>
                <c:pt idx="2">
                  <c:v>校本評核 SBA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中四嘅你</c:v>
                </c:pt>
              </c:strCache>
            </c:strRef>
          </c:tx>
          <c:spPr>
            <a:solidFill>
              <a:srgbClr val="FFC226">
                <a:alpha val="45000"/>
              </a:srgbClr>
            </a:solidFill>
            <a:ln w="25400" cap="flat">
              <a:solidFill>
                <a:srgbClr val="FFC22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C226"/>
              </a:solidFill>
              <a:ln w="9525" cap="flat">
                <a:solidFill>
                  <a:srgbClr val="FFC2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解難能力</c:v>
                  </c:pt>
                  <c:pt idx="1">
                    <c:v>運算思維</c:v>
                  </c:pt>
                  <c:pt idx="2">
                    <c:v>創意設計</c:v>
                  </c:pt>
                  <c:pt idx="3">
                    <c:v>團隊協作</c:v>
                  </c:pt>
                  <c:pt idx="4">
                    <c:v>數碼素養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中六嘅你</c:v>
                </c:pt>
              </c:strCache>
            </c:strRef>
          </c:tx>
          <c:spPr>
            <a:solidFill>
              <a:srgbClr val="7C4DFF">
                <a:alpha val="45000"/>
              </a:srgbClr>
            </a:solidFill>
            <a:ln w="25400" cap="flat">
              <a:solidFill>
                <a:srgbClr val="7C4D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7C4DFF"/>
              </a:solidFill>
              <a:ln w="9525" cap="flat">
                <a:solidFill>
                  <a:srgbClr val="7C4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解難能力</c:v>
                  </c:pt>
                  <c:pt idx="1">
                    <c:v>運算思維</c:v>
                  </c:pt>
                  <c:pt idx="2">
                    <c:v>創意設計</c:v>
                  </c:pt>
                  <c:pt idx="3">
                    <c:v>團隊協作</c:v>
                  </c:pt>
                  <c:pt idx="4">
                    <c:v>數碼素養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7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majorGridlines>
          <c:spPr>
            <a:ln w="12700" cap="flat">
              <a:solidFill>
                <a:srgbClr val="D5D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17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開場：大家好！今日同大家介紹高中選修科 ICT（資訊及通訊科技）。
左上角嗰串 0 同 1 其實係一個暗號——稍後我哋會一齊破解佢。
介紹吉祥物「小i」：佢會陪大家完成今日嘅 ICT 冒險。今日嘅主題係：讀 ICT 唔係淨係「用」科技，而係學識「創造」科技。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互動熱身：逐條問題請同學舉手。
預期大部分同學都會舉手——帶出重點：科技已經係大家生活嘅一部分，ICT 就係教你明白呢啲科技背後點運作，甚至自己動手做出嚟。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問同學：呢啲日常科技背後，原來全部都同 ICT 課程有關。
例如八達通拍卡＝數據庫更新紀錄；Google Maps＝演算法；網購＝網頁應用開發加數據庫；登入密碼＝資訊保安。
可以即場問同學：你估 Google Maps 點樣知道邊條路最快？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破除迷思：好多同學以為 ICT 只係教 Office 或者上堂打機。
其實 ICT 係一科「解難」嘅學科：用電腦科學嘅方法分析問題，再用程式、網頁、數據庫去解決。
亦唔需要一開始就好識電腦——中四會由基礎開始。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進入第一關：睇下三年高中 ICT 嘅課程地圖。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課程分三部分：
1. 必修部分：5 個單元，約 144 小時，所有同學都要讀。
2. 選修部分：3 個選修單元揀 2 個，按自己興趣同強項揀。
3. 校本評核（SBA）：約 30 小時，做一個資訊系統專題。
全科約 250 小時，最後喺 HKDSE 考試。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必修部分共五個單元（約 144 小時）：
A 資訊處理：數據點樣表示（二進制）、用試算表分析數據、處理圖像聲音影片。
B 電腦系統基礎：電腦入面有啲乜、CPU 點運作。
C 互聯網及其應用：網絡、Wi-Fi、雲端、網絡保安。
D 運算思維與程式編寫：佔最多時間（約 48 小時），學拆解問題同寫程式。
E 社會影響：私隱、版權、資訊保安、新科技帶嚟嘅道德問題。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互動遊戲：電腦入面所有資料都係 0 同 1（二進制），屬於必修單元 A。
示範第一組：01001001 → 64+8+1 = 73 → ASCII 73 號係 I。
請同學兩人一組計第二、三組（67 = C，84 = T），答案係「ICT」！
（建議：講完先用動畫顯示答案，或者先遮住答案位。）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第二關：揀選修單元，同埋做自己嘅專題作品。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選修部分：三個選修單元揀兩個，好似打機揀角色咁。
2A 數據庫：學 SQL，管理同查詢大量數據，例如學校點樣管理全校學生資料。
2B 網頁應用開發：整互動網站，涉及 HTML、CSS、JavaScript。
2C 演算法與程式編寫：更深入嘅編程同演算法，適合鍾意解難嘅同學。
下面嘅能力條只係示意，幫大家想像每個選修嘅風格；實際開辦邊兩個選修以本校安排為準。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示範一個 7 行嘅 Python 小遊戲：電腦隨機諗一個 1 至 10 嘅數字，玩家估。
如有時間可以即場示範執行。
帶出：寫程式其實唔係咁難，用到嘅概念（變數、輸入、if/else 條件）都係中四必修單元 D 會教。
挑戰同學：點樣改到可以估 3 次？——呢個就係運算思維！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校本評核（SBA）佔總分 20%，課時約 30 小時。
同學要按真實需要，設計同實踐一個資訊系統，主要分兩部分：「設計及實踐」同「測試及評估」。
好處：唔係一試定生死，平時認真做專題就可以穩穩攞分；完成後亦係一份可以放入學習歷程檔案嘅作品。
（右下角例子只屬示意，實際題目以考評局及本校安排為準。）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第三關：了解 DSE 點樣評核，同埋讀 ICT 之後嘅出路。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HKDSE ICT 評核分三部分：
卷一（必修部分）佔 55%：多項選擇題加問答題。
卷二（選修部分）佔 25%：只答自己揀嘅兩個選修。
校本評核 SBA 佔 20%：平時做嘅專題。
重點：唔係一試定生死，有兩成分數喺平時累積。
（考試時間及題型細節請以考評局最新公布為準。）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讀 ICT 唔只係學電腦知識，仲會訓練五種好有用嘅能力。
雷達圖（示意）比較中四同中六嘅你——就好似打機升級咁，能力值會逐步提升。
呢啲能力無論將來讀咩、做咩都用得着，特別係運算思維同解難能力。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出路好廣：軟件工程、數據分析、網絡保安、AI、遊戲開發、UI/UX 設計，以至金融科技、醫療科技等跨界範疇。
大學相關學科包括計算機科學、資訊工程、數據科學、人工智能等。
就算將來唔讀電腦相關學科，ICT 嘅解難能力同數碼技能喺商科、設計、傳媒、醫療等行業都一樣吃香。
（各大學課程入學要求不同，請參考各院校最新資料。）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請同學喺心入面（或者用紙）剔下呢六項。
剔中三項或以上，ICT 好可能好適合你。
強調：興趣同肯試嘅態度，比「天生識電腦」更重要。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回應同學常見疑問：
1. 未學過編程：中四由基礎開始，唔使擔心。
2. 數學：ICT 重邏輯思維多過計算。
3. 電腦：普通電腦已足夠，學校亦有電腦室可用。
4. 配搭：可按興趣同出路配搭，例如想讀工程可配 M1/M2、物理；想讀商科可配經濟、企會財。
（可按本校實際選科組合修改此頁。）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總結：ICT 係一科教你「創造」科技嘅學科——課程包括五個必修單元、兩個選修單元同一個 SBA 專題。
如果你鍾意解難、好奇科技點運作、想自己整 App 或網站，歡迎加入 ICT！
開放提問時間。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6596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71323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31920"/>
            <a:ext cx="7132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8CC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中三選科講座 ｜ ICT 資訊及通訊科技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8CC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image" Target="../media/image-15-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2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01001001 01000011 01010100</a:t>
            </a:r>
            <a:endParaRPr lang="en-US" sz="1600" dirty="0"/>
          </a:p>
        </p:txBody>
      </p:sp>
      <p:sp>
        <p:nvSpPr>
          <p:cNvPr id="3" name="event tag"/>
          <p:cNvSpPr/>
          <p:nvPr/>
        </p:nvSpPr>
        <p:spPr>
          <a:xfrm>
            <a:off x="64008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中三選科講座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9659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ICT 資訊及通訊科技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由「科技用家」升級做「科技創造者」</a:t>
            </a:r>
            <a:endParaRPr lang="en-US" sz="2600" dirty="0"/>
          </a:p>
        </p:txBody>
      </p:sp>
      <p:sp>
        <p:nvSpPr>
          <p:cNvPr id="6" name="press start"/>
          <p:cNvSpPr/>
          <p:nvPr/>
        </p:nvSpPr>
        <p:spPr>
          <a:xfrm>
            <a:off x="640080" y="4572000"/>
            <a:ext cx="2743200" cy="594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▶  PRESS START</a:t>
            </a:r>
            <a:endParaRPr lang="en-US" sz="2000" dirty="0"/>
          </a:p>
        </p:txBody>
      </p:sp>
      <p:pic>
        <p:nvPicPr>
          <p:cNvPr id="7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404257"/>
            <a:ext cx="3291840" cy="4232366"/>
          </a:xfrm>
          <a:prstGeom prst="rect">
            <a:avLst/>
          </a:prstGeom>
        </p:spPr>
      </p:pic>
      <p:sp>
        <p:nvSpPr>
          <p:cNvPr id="8" name="pixel sparkle 0"/>
          <p:cNvSpPr/>
          <p:nvPr/>
        </p:nvSpPr>
        <p:spPr>
          <a:xfrm>
            <a:off x="7680960" y="914400"/>
            <a:ext cx="164592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pixel sparkle 1"/>
          <p:cNvSpPr/>
          <p:nvPr/>
        </p:nvSpPr>
        <p:spPr>
          <a:xfrm>
            <a:off x="11338560" y="13716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pixel sparkle 2"/>
          <p:cNvSpPr/>
          <p:nvPr/>
        </p:nvSpPr>
        <p:spPr>
          <a:xfrm>
            <a:off x="11521440" y="5120640"/>
            <a:ext cx="18288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pixel sparkle 3"/>
          <p:cNvSpPr/>
          <p:nvPr/>
        </p:nvSpPr>
        <p:spPr>
          <a:xfrm>
            <a:off x="7498080" y="5669280"/>
            <a:ext cx="128016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pixel sparkle 4"/>
          <p:cNvSpPr/>
          <p:nvPr/>
        </p:nvSpPr>
        <p:spPr>
          <a:xfrm>
            <a:off x="10698480" y="548640"/>
            <a:ext cx="91440" cy="9144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熱身：舉手時間！</a:t>
            </a:r>
            <a:endParaRPr lang="en-US" sz="3400" dirty="0"/>
          </a:p>
        </p:txBody>
      </p:sp>
      <p:sp>
        <p:nvSpPr>
          <p:cNvPr id="3" name="question card 01"/>
          <p:cNvSpPr/>
          <p:nvPr/>
        </p:nvSpPr>
        <p:spPr>
          <a:xfrm>
            <a:off x="548640" y="1508760"/>
            <a:ext cx="722376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691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今日用咗手機超過 3 個鐘？</a:t>
            </a:r>
            <a:endParaRPr lang="en-US" sz="2200" dirty="0"/>
          </a:p>
        </p:txBody>
      </p:sp>
      <p:sp>
        <p:nvSpPr>
          <p:cNvPr id="6" name="question card 02"/>
          <p:cNvSpPr/>
          <p:nvPr/>
        </p:nvSpPr>
        <p:spPr>
          <a:xfrm>
            <a:off x="548640" y="2971800"/>
            <a:ext cx="722376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54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試過用 AI 工具查資料或者傾偈？</a:t>
            </a:r>
            <a:endParaRPr lang="en-US" sz="2200" dirty="0"/>
          </a:p>
        </p:txBody>
      </p:sp>
      <p:sp>
        <p:nvSpPr>
          <p:cNvPr id="9" name="question card 03"/>
          <p:cNvSpPr/>
          <p:nvPr/>
        </p:nvSpPr>
        <p:spPr>
          <a:xfrm>
            <a:off x="548640" y="4434840"/>
            <a:ext cx="7223760" cy="118872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617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4617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諗過整一個屬於自己嘅 App 或者遊戲？</a:t>
            </a:r>
            <a:endParaRPr lang="en-US" sz="2200" dirty="0"/>
          </a:p>
        </p:txBody>
      </p:sp>
      <p:pic>
        <p:nvPicPr>
          <p:cNvPr id="12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606040"/>
            <a:ext cx="2377440" cy="3056709"/>
          </a:xfrm>
          <a:prstGeom prst="rect">
            <a:avLst/>
          </a:prstGeom>
        </p:spPr>
      </p:pic>
      <p:sp>
        <p:nvSpPr>
          <p:cNvPr id="13" name="speech bubble"/>
          <p:cNvSpPr/>
          <p:nvPr/>
        </p:nvSpPr>
        <p:spPr>
          <a:xfrm>
            <a:off x="8183880" y="1325880"/>
            <a:ext cx="3429000" cy="96012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3175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有舉手嘅你，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已經係 ICT 嘅一份子！</a:t>
            </a:r>
            <a:endParaRPr lang="en-US" sz="1800" dirty="0"/>
          </a:p>
        </p:txBody>
      </p:sp>
      <p:sp>
        <p:nvSpPr>
          <p:cNvPr id="14" name="bubble tail"/>
          <p:cNvSpPr/>
          <p:nvPr/>
        </p:nvSpPr>
        <p:spPr>
          <a:xfrm rot="10800000">
            <a:off x="9966960" y="2258568"/>
            <a:ext cx="292608" cy="256032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你每日都用緊 ICT</a:t>
            </a:r>
            <a:endParaRPr lang="en-US" sz="3400" dirty="0"/>
          </a:p>
        </p:txBody>
      </p:sp>
      <p:sp>
        <p:nvSpPr>
          <p:cNvPr id="3" name="scenario card 1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4" name="八達通 / 電子支付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八達通 / 電子支付" descr="八達通 / 電子支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25" y="1916125"/>
            <a:ext cx="419710" cy="4197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八達通 / 電子支付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每次拍卡都會更新數據庫紀錄</a:t>
            </a:r>
            <a:endParaRPr lang="en-US" sz="1500" dirty="0"/>
          </a:p>
        </p:txBody>
      </p:sp>
      <p:sp>
        <p:nvSpPr>
          <p:cNvPr id="8" name="topic tag"/>
          <p:cNvSpPr/>
          <p:nvPr/>
        </p:nvSpPr>
        <p:spPr>
          <a:xfrm>
            <a:off x="822960" y="310896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➜ 數據庫</a:t>
            </a:r>
            <a:endParaRPr lang="en-US" sz="1300" dirty="0"/>
          </a:p>
        </p:txBody>
      </p:sp>
      <p:sp>
        <p:nvSpPr>
          <p:cNvPr id="9" name="scenario card 2"/>
          <p:cNvSpPr/>
          <p:nvPr/>
        </p:nvSpPr>
        <p:spPr>
          <a:xfrm>
            <a:off x="4325112" y="146304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10" name="Google 地圖導航 circle"/>
          <p:cNvSpPr/>
          <p:nvPr/>
        </p:nvSpPr>
        <p:spPr>
          <a:xfrm>
            <a:off x="4599432" y="17373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Google 地圖導航" descr="Google 地圖導航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97" y="1916125"/>
            <a:ext cx="419710" cy="4197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59552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Google 地圖導航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演算法幫你計出最快路線</a:t>
            </a:r>
            <a:endParaRPr lang="en-US" sz="1500" dirty="0"/>
          </a:p>
        </p:txBody>
      </p:sp>
      <p:sp>
        <p:nvSpPr>
          <p:cNvPr id="14" name="topic tag"/>
          <p:cNvSpPr/>
          <p:nvPr/>
        </p:nvSpPr>
        <p:spPr>
          <a:xfrm>
            <a:off x="4599432" y="310896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➜ 演算法</a:t>
            </a:r>
            <a:endParaRPr lang="en-US" sz="1300" dirty="0"/>
          </a:p>
        </p:txBody>
      </p:sp>
      <p:sp>
        <p:nvSpPr>
          <p:cNvPr id="15" name="scenario card 3"/>
          <p:cNvSpPr/>
          <p:nvPr/>
        </p:nvSpPr>
        <p:spPr>
          <a:xfrm>
            <a:off x="8101584" y="146304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16" name="IG / YouTube circle"/>
          <p:cNvSpPr/>
          <p:nvPr/>
        </p:nvSpPr>
        <p:spPr>
          <a:xfrm>
            <a:off x="8375904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G / YouTube" descr="IG / YouTu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669" y="1916125"/>
            <a:ext cx="419710" cy="4197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36024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IG / YouTube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相片、影片經互聯網傳送同壓縮</a:t>
            </a:r>
            <a:endParaRPr lang="en-US" sz="1500" dirty="0"/>
          </a:p>
        </p:txBody>
      </p:sp>
      <p:sp>
        <p:nvSpPr>
          <p:cNvPr id="20" name="topic tag"/>
          <p:cNvSpPr/>
          <p:nvPr/>
        </p:nvSpPr>
        <p:spPr>
          <a:xfrm>
            <a:off x="8375904" y="310896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➜ 互聯網</a:t>
            </a:r>
            <a:endParaRPr lang="en-US" sz="1300" dirty="0"/>
          </a:p>
        </p:txBody>
      </p:sp>
      <p:sp>
        <p:nvSpPr>
          <p:cNvPr id="21" name="scenario card 4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22" name="AI 聊天機械人 circle"/>
          <p:cNvSpPr/>
          <p:nvPr/>
        </p:nvSpPr>
        <p:spPr>
          <a:xfrm>
            <a:off x="822960" y="41605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AI 聊天機械人" descr="AI 聊天機械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25" y="4339285"/>
            <a:ext cx="419710" cy="41971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83080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聊天機械人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AI 點學習？會唔會講錯嘢？</a:t>
            </a:r>
            <a:endParaRPr lang="en-US" sz="1500" dirty="0"/>
          </a:p>
        </p:txBody>
      </p:sp>
      <p:sp>
        <p:nvSpPr>
          <p:cNvPr id="26" name="topic tag"/>
          <p:cNvSpPr/>
          <p:nvPr/>
        </p:nvSpPr>
        <p:spPr>
          <a:xfrm>
            <a:off x="822960" y="553212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➜ AI 與社會</a:t>
            </a:r>
            <a:endParaRPr lang="en-US" sz="1300" dirty="0"/>
          </a:p>
        </p:txBody>
      </p:sp>
      <p:sp>
        <p:nvSpPr>
          <p:cNvPr id="27" name="scenario card 5"/>
          <p:cNvSpPr/>
          <p:nvPr/>
        </p:nvSpPr>
        <p:spPr>
          <a:xfrm>
            <a:off x="4325112" y="388620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28" name="網上購物 circle"/>
          <p:cNvSpPr/>
          <p:nvPr/>
        </p:nvSpPr>
        <p:spPr>
          <a:xfrm>
            <a:off x="4599432" y="416052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網上購物" descr="網上購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197" y="4339285"/>
            <a:ext cx="419710" cy="41971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559552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網上購物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4599432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購物網站 = 網頁 + 數據庫</a:t>
            </a:r>
            <a:endParaRPr lang="en-US" sz="1500" dirty="0"/>
          </a:p>
        </p:txBody>
      </p:sp>
      <p:sp>
        <p:nvSpPr>
          <p:cNvPr id="32" name="topic tag"/>
          <p:cNvSpPr/>
          <p:nvPr/>
        </p:nvSpPr>
        <p:spPr>
          <a:xfrm>
            <a:off x="4599432" y="553212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➜ 網頁開發</a:t>
            </a:r>
            <a:endParaRPr lang="en-US" sz="1300" dirty="0"/>
          </a:p>
        </p:txBody>
      </p:sp>
      <p:sp>
        <p:nvSpPr>
          <p:cNvPr id="33" name="scenario card 6"/>
          <p:cNvSpPr/>
          <p:nvPr/>
        </p:nvSpPr>
        <p:spPr>
          <a:xfrm>
            <a:off x="8101584" y="3886200"/>
            <a:ext cx="3520440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34" name="密碼 &amp; 雙重認證 circle"/>
          <p:cNvSpPr/>
          <p:nvPr/>
        </p:nvSpPr>
        <p:spPr>
          <a:xfrm>
            <a:off x="8375904" y="41605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密碼 &amp; 雙重認證" descr="密碼 &amp; 雙重認證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669" y="4339285"/>
            <a:ext cx="419710" cy="41971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36024" y="4160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密碼 &amp; 雙重認證</a:t>
            </a:r>
            <a:endParaRPr lang="en-US" sz="1900" dirty="0"/>
          </a:p>
        </p:txBody>
      </p:sp>
      <p:sp>
        <p:nvSpPr>
          <p:cNvPr id="37" name="Text 29"/>
          <p:cNvSpPr txBox="1"/>
          <p:nvPr/>
        </p:nvSpPr>
        <p:spPr>
          <a:xfrm>
            <a:off x="8375904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點樣保護帳戶唔被盜用？</a:t>
            </a:r>
            <a:endParaRPr lang="en-US" sz="1500" dirty="0"/>
          </a:p>
        </p:txBody>
      </p:sp>
      <p:sp>
        <p:nvSpPr>
          <p:cNvPr id="38" name="topic tag"/>
          <p:cNvSpPr/>
          <p:nvPr/>
        </p:nvSpPr>
        <p:spPr>
          <a:xfrm>
            <a:off x="8375904" y="553212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➜ 資訊保安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ICT 唔係……ICT 其實係……</a:t>
            </a:r>
            <a:endParaRPr lang="en-US" sz="3400" dirty="0"/>
          </a:p>
        </p:txBody>
      </p:sp>
      <p:sp>
        <p:nvSpPr>
          <p:cNvPr id="3" name="常見誤解 panel"/>
          <p:cNvSpPr/>
          <p:nvPr/>
        </p:nvSpPr>
        <p:spPr>
          <a:xfrm>
            <a:off x="548640" y="1463040"/>
            <a:ext cx="5376672" cy="4572000"/>
          </a:xfrm>
          <a:prstGeom prst="roundRect">
            <a:avLst>
              <a:gd name="adj" fmla="val 3600"/>
            </a:avLst>
          </a:prstGeom>
          <a:solidFill>
            <a:schemeClr val="bg2"/>
          </a:solidFill>
          <a:ln/>
        </p:spPr>
      </p:sp>
      <p:sp>
        <p:nvSpPr>
          <p:cNvPr id="4" name="常見誤解 circle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常見誤解" descr="常見誤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" y="1849374"/>
            <a:ext cx="370332" cy="370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常見誤解</a:t>
            </a:r>
            <a:endParaRPr lang="en-US" sz="2400" dirty="0"/>
          </a:p>
        </p:txBody>
      </p:sp>
      <p:sp>
        <p:nvSpPr>
          <p:cNvPr id="7" name="statement row"/>
          <p:cNvSpPr/>
          <p:nvPr/>
        </p:nvSpPr>
        <p:spPr>
          <a:xfrm>
            <a:off x="868680" y="2697480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tx2"/>
                </a:solidFill>
              </a:rPr>
              <a:t>淨係學打字、用 Word 同 PowerPoint</a:t>
            </a:r>
            <a:endParaRPr lang="en-US" sz="1700" dirty="0"/>
          </a:p>
        </p:txBody>
      </p:sp>
      <p:sp>
        <p:nvSpPr>
          <p:cNvPr id="9" name="statement row"/>
          <p:cNvSpPr/>
          <p:nvPr/>
        </p:nvSpPr>
        <p:spPr>
          <a:xfrm>
            <a:off x="868680" y="3502152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35021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tx2"/>
                </a:solidFill>
              </a:rPr>
              <a:t>上堂打機、上網</a:t>
            </a:r>
            <a:endParaRPr lang="en-US" sz="1700" dirty="0"/>
          </a:p>
        </p:txBody>
      </p:sp>
      <p:sp>
        <p:nvSpPr>
          <p:cNvPr id="11" name="statement row"/>
          <p:cNvSpPr/>
          <p:nvPr/>
        </p:nvSpPr>
        <p:spPr>
          <a:xfrm>
            <a:off x="868680" y="4306824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43068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tx2"/>
                </a:solidFill>
              </a:rPr>
              <a:t>要好識電腦先讀得</a:t>
            </a:r>
            <a:endParaRPr lang="en-US" sz="1700" dirty="0"/>
          </a:p>
        </p:txBody>
      </p:sp>
      <p:sp>
        <p:nvSpPr>
          <p:cNvPr id="13" name="statement row"/>
          <p:cNvSpPr/>
          <p:nvPr/>
        </p:nvSpPr>
        <p:spPr>
          <a:xfrm>
            <a:off x="868680" y="5111496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511149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chemeClr val="tx2"/>
                </a:solidFill>
              </a:rPr>
              <a:t>死記硬背嘅科目</a:t>
            </a:r>
            <a:endParaRPr lang="en-US" sz="1700" dirty="0"/>
          </a:p>
        </p:txBody>
      </p:sp>
      <p:sp>
        <p:nvSpPr>
          <p:cNvPr id="15" name="真實嘅 ICT panel"/>
          <p:cNvSpPr/>
          <p:nvPr/>
        </p:nvSpPr>
        <p:spPr>
          <a:xfrm>
            <a:off x="6263640" y="1463040"/>
            <a:ext cx="5376672" cy="4572000"/>
          </a:xfrm>
          <a:prstGeom prst="roundRect">
            <a:avLst>
              <a:gd name="adj" fmla="val 3600"/>
            </a:avLst>
          </a:prstGeom>
          <a:solidFill>
            <a:schemeClr val="bg2"/>
          </a:solidFill>
          <a:ln/>
        </p:spPr>
      </p:sp>
      <p:sp>
        <p:nvSpPr>
          <p:cNvPr id="16" name="真實嘅 ICT circle"/>
          <p:cNvSpPr/>
          <p:nvPr/>
        </p:nvSpPr>
        <p:spPr>
          <a:xfrm>
            <a:off x="658368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真實嘅 ICT" descr="真實嘅 I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414" y="1849374"/>
            <a:ext cx="370332" cy="3703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52360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真實嘅 ICT</a:t>
            </a:r>
            <a:endParaRPr lang="en-US" sz="2400" dirty="0"/>
          </a:p>
        </p:txBody>
      </p:sp>
      <p:sp>
        <p:nvSpPr>
          <p:cNvPr id="19" name="statement row"/>
          <p:cNvSpPr/>
          <p:nvPr/>
        </p:nvSpPr>
        <p:spPr>
          <a:xfrm>
            <a:off x="6583680" y="2697480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1228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用運算思維拆解問題、設計方案</a:t>
            </a:r>
            <a:endParaRPr lang="en-US" sz="1700" dirty="0"/>
          </a:p>
        </p:txBody>
      </p:sp>
      <p:sp>
        <p:nvSpPr>
          <p:cNvPr id="21" name="statement row"/>
          <p:cNvSpPr/>
          <p:nvPr/>
        </p:nvSpPr>
        <p:spPr>
          <a:xfrm>
            <a:off x="6583680" y="3502152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12280" y="35021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親手寫程式、整網頁、建數據庫</a:t>
            </a:r>
            <a:endParaRPr lang="en-US" sz="1700" dirty="0"/>
          </a:p>
        </p:txBody>
      </p:sp>
      <p:sp>
        <p:nvSpPr>
          <p:cNvPr id="23" name="statement row"/>
          <p:cNvSpPr/>
          <p:nvPr/>
        </p:nvSpPr>
        <p:spPr>
          <a:xfrm>
            <a:off x="6583680" y="4306824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12280" y="43068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明白網絡、雲端、AI 點樣運作</a:t>
            </a:r>
            <a:endParaRPr lang="en-US" sz="1700" dirty="0"/>
          </a:p>
        </p:txBody>
      </p:sp>
      <p:sp>
        <p:nvSpPr>
          <p:cNvPr id="25" name="statement row"/>
          <p:cNvSpPr/>
          <p:nvPr/>
        </p:nvSpPr>
        <p:spPr>
          <a:xfrm>
            <a:off x="6583680" y="5111496"/>
            <a:ext cx="4736592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12280" y="511149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思考私隱、版權、網絡安全等社會議題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 tag"/>
          <p:cNvSpPr/>
          <p:nvPr/>
        </p:nvSpPr>
        <p:spPr>
          <a:xfrm>
            <a:off x="640080" y="205740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LEVEL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課程地圖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三年高中 ICT 會學啲乜？</a:t>
            </a:r>
            <a:endParaRPr lang="en-US" sz="2200" dirty="0"/>
          </a:p>
        </p:txBody>
      </p:sp>
      <p:pic>
        <p:nvPicPr>
          <p:cNvPr id="5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724297"/>
            <a:ext cx="2651760" cy="3409406"/>
          </a:xfrm>
          <a:prstGeom prst="rect">
            <a:avLst/>
          </a:prstGeom>
        </p:spPr>
      </p:pic>
      <p:sp>
        <p:nvSpPr>
          <p:cNvPr id="6" name="pixel sparkle 0"/>
          <p:cNvSpPr/>
          <p:nvPr/>
        </p:nvSpPr>
        <p:spPr>
          <a:xfrm>
            <a:off x="8229600" y="1188720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pixel sparkle 1"/>
          <p:cNvSpPr/>
          <p:nvPr/>
        </p:nvSpPr>
        <p:spPr>
          <a:xfrm>
            <a:off x="11521440" y="1828800"/>
            <a:ext cx="10972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ixel sparkle 2"/>
          <p:cNvSpPr/>
          <p:nvPr/>
        </p:nvSpPr>
        <p:spPr>
          <a:xfrm>
            <a:off x="11430000" y="5394960"/>
            <a:ext cx="164592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pixel sparkle 3"/>
          <p:cNvSpPr/>
          <p:nvPr/>
        </p:nvSpPr>
        <p:spPr>
          <a:xfrm>
            <a:off x="8138160" y="5303520"/>
            <a:ext cx="109728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8CC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三年冒險地圖：三個關卡</a:t>
            </a:r>
            <a:endParaRPr lang="en-US" sz="3400" dirty="0"/>
          </a:p>
        </p:txBody>
      </p:sp>
      <p:sp>
        <p:nvSpPr>
          <p:cNvPr id="3" name="必修部分 card"/>
          <p:cNvSpPr/>
          <p:nvPr/>
        </p:nvSpPr>
        <p:spPr>
          <a:xfrm>
            <a:off x="548640" y="1600200"/>
            <a:ext cx="2697480" cy="3246120"/>
          </a:xfrm>
          <a:prstGeom prst="roundRect">
            <a:avLst>
              <a:gd name="adj" fmla="val 6102"/>
            </a:avLst>
          </a:prstGeom>
          <a:solidFill>
            <a:schemeClr val="bg2"/>
          </a:solidFill>
          <a:ln/>
        </p:spPr>
      </p:sp>
      <p:sp>
        <p:nvSpPr>
          <p:cNvPr id="4" name="stage tag"/>
          <p:cNvSpPr/>
          <p:nvPr/>
        </p:nvSpPr>
        <p:spPr>
          <a:xfrm>
            <a:off x="822960" y="187452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STAGE 1</a:t>
            </a:r>
            <a:endParaRPr lang="en-US" sz="1300" dirty="0"/>
          </a:p>
        </p:txBody>
      </p:sp>
      <p:sp>
        <p:nvSpPr>
          <p:cNvPr id="5" name="必修部分 circle"/>
          <p:cNvSpPr/>
          <p:nvPr/>
        </p:nvSpPr>
        <p:spPr>
          <a:xfrm>
            <a:off x="219456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必修部分" descr="必修部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3325" y="2007565"/>
            <a:ext cx="419710" cy="4197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必修部分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5 個單元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人人都要學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約 144 小時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319272" y="29260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➜</a:t>
            </a:r>
            <a:endParaRPr lang="en-US" sz="3000" dirty="0"/>
          </a:p>
        </p:txBody>
      </p:sp>
      <p:sp>
        <p:nvSpPr>
          <p:cNvPr id="11" name="選修部分 card"/>
          <p:cNvSpPr/>
          <p:nvPr/>
        </p:nvSpPr>
        <p:spPr>
          <a:xfrm>
            <a:off x="3794760" y="1600200"/>
            <a:ext cx="2697480" cy="3246120"/>
          </a:xfrm>
          <a:prstGeom prst="roundRect">
            <a:avLst>
              <a:gd name="adj" fmla="val 6102"/>
            </a:avLst>
          </a:prstGeom>
          <a:solidFill>
            <a:schemeClr val="bg2"/>
          </a:solidFill>
          <a:ln/>
        </p:spPr>
      </p:sp>
      <p:sp>
        <p:nvSpPr>
          <p:cNvPr id="12" name="stage tag"/>
          <p:cNvSpPr/>
          <p:nvPr/>
        </p:nvSpPr>
        <p:spPr>
          <a:xfrm>
            <a:off x="4069080" y="187452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STAGE 2</a:t>
            </a:r>
            <a:endParaRPr lang="en-US" sz="1300" dirty="0"/>
          </a:p>
        </p:txBody>
      </p:sp>
      <p:sp>
        <p:nvSpPr>
          <p:cNvPr id="13" name="選修部分 circle"/>
          <p:cNvSpPr/>
          <p:nvPr/>
        </p:nvSpPr>
        <p:spPr>
          <a:xfrm>
            <a:off x="5440680" y="1828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選修部分" descr="選修部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445" y="2007565"/>
            <a:ext cx="419710" cy="41971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6908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選修部分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069080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3 揀 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按興趣揀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069080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 個選修單元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565392" y="29260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➜</a:t>
            </a:r>
            <a:endParaRPr lang="en-US" sz="3000" dirty="0"/>
          </a:p>
        </p:txBody>
      </p:sp>
      <p:sp>
        <p:nvSpPr>
          <p:cNvPr id="19" name="校本評核 SBA card"/>
          <p:cNvSpPr/>
          <p:nvPr/>
        </p:nvSpPr>
        <p:spPr>
          <a:xfrm>
            <a:off x="7040880" y="1600200"/>
            <a:ext cx="2697480" cy="3246120"/>
          </a:xfrm>
          <a:prstGeom prst="roundRect">
            <a:avLst>
              <a:gd name="adj" fmla="val 6102"/>
            </a:avLst>
          </a:prstGeom>
          <a:solidFill>
            <a:schemeClr val="bg2"/>
          </a:solidFill>
          <a:ln/>
        </p:spPr>
      </p:sp>
      <p:sp>
        <p:nvSpPr>
          <p:cNvPr id="20" name="stage tag"/>
          <p:cNvSpPr/>
          <p:nvPr/>
        </p:nvSpPr>
        <p:spPr>
          <a:xfrm>
            <a:off x="7315200" y="187452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STAGE 3</a:t>
            </a:r>
            <a:endParaRPr lang="en-US" sz="1300" dirty="0"/>
          </a:p>
        </p:txBody>
      </p:sp>
      <p:sp>
        <p:nvSpPr>
          <p:cNvPr id="21" name="校本評核 SBA circle"/>
          <p:cNvSpPr/>
          <p:nvPr/>
        </p:nvSpPr>
        <p:spPr>
          <a:xfrm>
            <a:off x="8686800" y="182880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校本評核 SBA" descr="校本評核 SB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565" y="2007565"/>
            <a:ext cx="419710" cy="41971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1520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校本評核 SBA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7315200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做一個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資訊系統專題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7315200" y="4206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約 30 小時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9811512" y="29260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➜</a:t>
            </a:r>
            <a:endParaRPr lang="en-US" sz="3000" dirty="0"/>
          </a:p>
        </p:txBody>
      </p:sp>
      <p:sp>
        <p:nvSpPr>
          <p:cNvPr id="27" name="HKDSE goal circle"/>
          <p:cNvSpPr/>
          <p:nvPr/>
        </p:nvSpPr>
        <p:spPr>
          <a:xfrm>
            <a:off x="10378440" y="2468880"/>
            <a:ext cx="1234440" cy="12344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8" name="HKDSE goal" descr="HKDSE go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2361" y="2752801"/>
            <a:ext cx="666598" cy="66659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241280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HKDSE</a:t>
            </a:r>
            <a:endParaRPr lang="en-US" sz="2200" dirty="0"/>
          </a:p>
        </p:txBody>
      </p:sp>
      <p:sp>
        <p:nvSpPr>
          <p:cNvPr id="30" name="total hours banner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tx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6868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全科總課時約 </a:t>
            </a:r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250 小時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：理論 + 大量動手實作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1｜必修部分：五大單元</a:t>
            </a:r>
            <a:endParaRPr lang="en-US" sz="3400" dirty="0"/>
          </a:p>
        </p:txBody>
      </p:sp>
      <p:sp>
        <p:nvSpPr>
          <p:cNvPr id="3" name="module A"/>
          <p:cNvSpPr/>
          <p:nvPr/>
        </p:nvSpPr>
        <p:spPr>
          <a:xfrm>
            <a:off x="548640" y="1417320"/>
            <a:ext cx="2057400" cy="37947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module A icon circle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dule A icon" descr="module 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8141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資訊處理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小時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31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二進制與編碼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試算表數據分析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多媒體處理</a:t>
            </a:r>
            <a:endParaRPr lang="en-US" sz="1400" dirty="0"/>
          </a:p>
        </p:txBody>
      </p:sp>
      <p:sp>
        <p:nvSpPr>
          <p:cNvPr id="10" name="module B"/>
          <p:cNvSpPr/>
          <p:nvPr/>
        </p:nvSpPr>
        <p:spPr>
          <a:xfrm>
            <a:off x="2807208" y="1417320"/>
            <a:ext cx="2057400" cy="37947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module B icon circle"/>
          <p:cNvSpPr/>
          <p:nvPr/>
        </p:nvSpPr>
        <p:spPr>
          <a:xfrm>
            <a:off x="3035808" y="16459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module B icon" descr="module 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58" y="18141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87368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3035808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電腦系統基礎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035808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小時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035808" y="3931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與記憶體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硬件與軟件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作業系統</a:t>
            </a:r>
            <a:endParaRPr lang="en-US" sz="1400" dirty="0"/>
          </a:p>
        </p:txBody>
      </p:sp>
      <p:sp>
        <p:nvSpPr>
          <p:cNvPr id="17" name="module C"/>
          <p:cNvSpPr/>
          <p:nvPr/>
        </p:nvSpPr>
        <p:spPr>
          <a:xfrm>
            <a:off x="5065776" y="1417320"/>
            <a:ext cx="2057400" cy="37947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module C icon circle"/>
          <p:cNvSpPr/>
          <p:nvPr/>
        </p:nvSpPr>
        <p:spPr>
          <a:xfrm>
            <a:off x="5294376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module C icon" descr="module C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626" y="18141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45936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5294376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互聯網及其應用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294376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小時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5294376" y="3931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網絡與 Wi-Fi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雲端服務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網絡保安</a:t>
            </a:r>
            <a:endParaRPr lang="en-US" sz="1400" dirty="0"/>
          </a:p>
        </p:txBody>
      </p:sp>
      <p:sp>
        <p:nvSpPr>
          <p:cNvPr id="24" name="module D"/>
          <p:cNvSpPr/>
          <p:nvPr/>
        </p:nvSpPr>
        <p:spPr>
          <a:xfrm>
            <a:off x="7324344" y="1417320"/>
            <a:ext cx="2057400" cy="37947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module D icon circle"/>
          <p:cNvSpPr/>
          <p:nvPr/>
        </p:nvSpPr>
        <p:spPr>
          <a:xfrm>
            <a:off x="7552944" y="16459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module D icon" descr="module 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94" y="1814170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604504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000" dirty="0"/>
          </a:p>
        </p:txBody>
      </p:sp>
      <p:sp>
        <p:nvSpPr>
          <p:cNvPr id="28" name="Text 22"/>
          <p:cNvSpPr txBox="1"/>
          <p:nvPr/>
        </p:nvSpPr>
        <p:spPr>
          <a:xfrm>
            <a:off x="7552944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運算思維與程式編寫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552944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小時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7552944" y="3931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拆解問題與演算法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編寫程式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測試與除錯</a:t>
            </a:r>
            <a:endParaRPr lang="en-US" sz="1400" dirty="0"/>
          </a:p>
        </p:txBody>
      </p:sp>
      <p:sp>
        <p:nvSpPr>
          <p:cNvPr id="31" name="module E"/>
          <p:cNvSpPr/>
          <p:nvPr/>
        </p:nvSpPr>
        <p:spPr>
          <a:xfrm>
            <a:off x="9582912" y="1417320"/>
            <a:ext cx="2057400" cy="37947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2" name="module E icon circle"/>
          <p:cNvSpPr/>
          <p:nvPr/>
        </p:nvSpPr>
        <p:spPr>
          <a:xfrm>
            <a:off x="9811512" y="16459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module E icon" descr="module 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62" y="1814170"/>
            <a:ext cx="395021" cy="39502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863072" y="1600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4000" dirty="0"/>
          </a:p>
        </p:txBody>
      </p:sp>
      <p:sp>
        <p:nvSpPr>
          <p:cNvPr id="35" name="Text 28"/>
          <p:cNvSpPr txBox="1"/>
          <p:nvPr/>
        </p:nvSpPr>
        <p:spPr>
          <a:xfrm>
            <a:off x="9811512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社會影響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811512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小時</a:t>
            </a:r>
            <a:endParaRPr lang="en-US" sz="3000" dirty="0"/>
          </a:p>
        </p:txBody>
      </p:sp>
      <p:sp>
        <p:nvSpPr>
          <p:cNvPr id="37" name="Text 30"/>
          <p:cNvSpPr txBox="1"/>
          <p:nvPr/>
        </p:nvSpPr>
        <p:spPr>
          <a:xfrm>
            <a:off x="9811512" y="39319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私隱與版權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資訊保安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新興科技與道德</a:t>
            </a:r>
            <a:endParaRPr lang="en-US" sz="1400" dirty="0"/>
          </a:p>
        </p:txBody>
      </p:sp>
      <p:sp>
        <p:nvSpPr>
          <p:cNvPr id="38" name="module D highlight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25714"/>
            </a:avLst>
          </a:prstGeom>
          <a:solidFill>
            <a:schemeClr val="tx1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單元 D 佔最多課時：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寫程式、解難，就係 ICT 嘅核心技能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互動挑戰：破解封面嘅暗號</a:t>
            </a:r>
            <a:endParaRPr lang="en-US" sz="3400" dirty="0"/>
          </a:p>
        </p:txBody>
      </p:sp>
      <p:sp>
        <p:nvSpPr>
          <p:cNvPr id="3" name="code banner"/>
          <p:cNvSpPr/>
          <p:nvPr/>
        </p:nvSpPr>
        <p:spPr>
          <a:xfrm>
            <a:off x="548640" y="1463040"/>
            <a:ext cx="11091672" cy="1143000"/>
          </a:xfrm>
          <a:prstGeom prst="roundRect">
            <a:avLst>
              <a:gd name="adj" fmla="val 144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01001001   01000011   01010100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每一格代表嘅數值</a:t>
            </a:r>
            <a:endParaRPr lang="en-US" sz="1500" dirty="0"/>
          </a:p>
        </p:txBody>
      </p:sp>
      <p:sp>
        <p:nvSpPr>
          <p:cNvPr id="6" name="place value 128"/>
          <p:cNvSpPr/>
          <p:nvPr/>
        </p:nvSpPr>
        <p:spPr>
          <a:xfrm>
            <a:off x="548640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800" dirty="0"/>
          </a:p>
        </p:txBody>
      </p:sp>
      <p:sp>
        <p:nvSpPr>
          <p:cNvPr id="8" name="bit 0"/>
          <p:cNvSpPr/>
          <p:nvPr/>
        </p:nvSpPr>
        <p:spPr>
          <a:xfrm>
            <a:off x="548640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place value 64"/>
          <p:cNvSpPr/>
          <p:nvPr/>
        </p:nvSpPr>
        <p:spPr>
          <a:xfrm>
            <a:off x="1298448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800" dirty="0"/>
          </a:p>
        </p:txBody>
      </p:sp>
      <p:sp>
        <p:nvSpPr>
          <p:cNvPr id="12" name="bit 1"/>
          <p:cNvSpPr/>
          <p:nvPr/>
        </p:nvSpPr>
        <p:spPr>
          <a:xfrm>
            <a:off x="1298448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place value 32"/>
          <p:cNvSpPr/>
          <p:nvPr/>
        </p:nvSpPr>
        <p:spPr>
          <a:xfrm>
            <a:off x="2048256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48256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16" name="bit 2"/>
          <p:cNvSpPr/>
          <p:nvPr/>
        </p:nvSpPr>
        <p:spPr>
          <a:xfrm>
            <a:off x="2048256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48256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place value 16"/>
          <p:cNvSpPr/>
          <p:nvPr/>
        </p:nvSpPr>
        <p:spPr>
          <a:xfrm>
            <a:off x="2798064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98064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20" name="bit 3"/>
          <p:cNvSpPr/>
          <p:nvPr/>
        </p:nvSpPr>
        <p:spPr>
          <a:xfrm>
            <a:off x="2798064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98064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place value 8"/>
          <p:cNvSpPr/>
          <p:nvPr/>
        </p:nvSpPr>
        <p:spPr>
          <a:xfrm>
            <a:off x="3547872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47872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4" name="bit 4"/>
          <p:cNvSpPr/>
          <p:nvPr/>
        </p:nvSpPr>
        <p:spPr>
          <a:xfrm>
            <a:off x="3547872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47872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place value 4"/>
          <p:cNvSpPr/>
          <p:nvPr/>
        </p:nvSpPr>
        <p:spPr>
          <a:xfrm>
            <a:off x="4297680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97680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bit 5"/>
          <p:cNvSpPr/>
          <p:nvPr/>
        </p:nvSpPr>
        <p:spPr>
          <a:xfrm>
            <a:off x="4297680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97680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place value 2"/>
          <p:cNvSpPr/>
          <p:nvPr/>
        </p:nvSpPr>
        <p:spPr>
          <a:xfrm>
            <a:off x="5047488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47488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bit 6"/>
          <p:cNvSpPr/>
          <p:nvPr/>
        </p:nvSpPr>
        <p:spPr>
          <a:xfrm>
            <a:off x="5047488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47488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800" dirty="0"/>
          </a:p>
        </p:txBody>
      </p:sp>
      <p:sp>
        <p:nvSpPr>
          <p:cNvPr id="34" name="place value 1"/>
          <p:cNvSpPr/>
          <p:nvPr/>
        </p:nvSpPr>
        <p:spPr>
          <a:xfrm>
            <a:off x="5797296" y="3474720"/>
            <a:ext cx="658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97296" y="347472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bit 7"/>
          <p:cNvSpPr/>
          <p:nvPr/>
        </p:nvSpPr>
        <p:spPr>
          <a:xfrm>
            <a:off x="5797296" y="4206240"/>
            <a:ext cx="658368" cy="77724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97296" y="42062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212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64 + 8 + 1 =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73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 ➜  ASCII 第 73 號 ＝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39" name="answer card"/>
          <p:cNvSpPr/>
          <p:nvPr/>
        </p:nvSpPr>
        <p:spPr>
          <a:xfrm>
            <a:off x="6903720" y="3063240"/>
            <a:ext cx="4736592" cy="2971800"/>
          </a:xfrm>
          <a:prstGeom prst="roundRect">
            <a:avLst>
              <a:gd name="adj" fmla="val 5538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22376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輪到你！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7223760" y="3794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用同一方法計埋第 2、3 組，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睇下暗號係咩字？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4663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提示：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= 65、B = 66、C = 67……</a:t>
            </a:r>
            <a:endParaRPr lang="en-US" sz="1500" dirty="0"/>
          </a:p>
        </p:txBody>
      </p:sp>
      <p:sp>
        <p:nvSpPr>
          <p:cNvPr id="43" name="answer pill"/>
          <p:cNvSpPr/>
          <p:nvPr/>
        </p:nvSpPr>
        <p:spPr>
          <a:xfrm>
            <a:off x="7223760" y="5257800"/>
            <a:ext cx="237744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答案：I  C  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 tag"/>
          <p:cNvSpPr/>
          <p:nvPr/>
        </p:nvSpPr>
        <p:spPr>
          <a:xfrm>
            <a:off x="640080" y="205740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LEVEL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選修 &amp; 專題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揀你嘅角色，做你嘅作品</a:t>
            </a:r>
            <a:endParaRPr lang="en-US" sz="2200" dirty="0"/>
          </a:p>
        </p:txBody>
      </p:sp>
      <p:pic>
        <p:nvPicPr>
          <p:cNvPr id="5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724297"/>
            <a:ext cx="2651760" cy="3409406"/>
          </a:xfrm>
          <a:prstGeom prst="rect">
            <a:avLst/>
          </a:prstGeom>
        </p:spPr>
      </p:pic>
      <p:sp>
        <p:nvSpPr>
          <p:cNvPr id="6" name="pixel sparkle 0"/>
          <p:cNvSpPr/>
          <p:nvPr/>
        </p:nvSpPr>
        <p:spPr>
          <a:xfrm>
            <a:off x="8229600" y="1188720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pixel sparkle 1"/>
          <p:cNvSpPr/>
          <p:nvPr/>
        </p:nvSpPr>
        <p:spPr>
          <a:xfrm>
            <a:off x="11521440" y="1828800"/>
            <a:ext cx="10972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ixel sparkle 2"/>
          <p:cNvSpPr/>
          <p:nvPr/>
        </p:nvSpPr>
        <p:spPr>
          <a:xfrm>
            <a:off x="11430000" y="5394960"/>
            <a:ext cx="164592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pixel sparkle 3"/>
          <p:cNvSpPr/>
          <p:nvPr/>
        </p:nvSpPr>
        <p:spPr>
          <a:xfrm>
            <a:off x="8138160" y="5303520"/>
            <a:ext cx="109728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8CC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2｜揀你嘅角色（3 揀 2）</a:t>
            </a:r>
            <a:endParaRPr lang="en-US" sz="3400" dirty="0"/>
          </a:p>
        </p:txBody>
      </p:sp>
      <p:sp>
        <p:nvSpPr>
          <p:cNvPr id="3" name="elective 2A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/>
        </p:spPr>
      </p:sp>
      <p:sp>
        <p:nvSpPr>
          <p:cNvPr id="4" name="數據庫 circle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數據庫" descr="數據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756" y="1891436"/>
            <a:ext cx="469087" cy="4690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數據管家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數據庫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 SQL 管理同查詢大量數據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適合你，如果你……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鍾意整理、分析資料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00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邏輯</a:t>
            </a:r>
            <a:endParaRPr lang="en-US" sz="1400" dirty="0"/>
          </a:p>
        </p:txBody>
      </p:sp>
      <p:sp>
        <p:nvSpPr>
          <p:cNvPr id="12" name="stat pip"/>
          <p:cNvSpPr/>
          <p:nvPr/>
        </p:nvSpPr>
        <p:spPr>
          <a:xfrm>
            <a:off x="1508760" y="4846320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tat pip"/>
          <p:cNvSpPr/>
          <p:nvPr/>
        </p:nvSpPr>
        <p:spPr>
          <a:xfrm>
            <a:off x="1947672" y="4846320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tat pip"/>
          <p:cNvSpPr/>
          <p:nvPr/>
        </p:nvSpPr>
        <p:spPr>
          <a:xfrm>
            <a:off x="2386584" y="4846320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stat pip"/>
          <p:cNvSpPr/>
          <p:nvPr/>
        </p:nvSpPr>
        <p:spPr>
          <a:xfrm>
            <a:off x="2825496" y="4846320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stat pip"/>
          <p:cNvSpPr/>
          <p:nvPr/>
        </p:nvSpPr>
        <p:spPr>
          <a:xfrm>
            <a:off x="3264408" y="4846320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5184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創意</a:t>
            </a:r>
            <a:endParaRPr lang="en-US" sz="1400" dirty="0"/>
          </a:p>
        </p:txBody>
      </p:sp>
      <p:sp>
        <p:nvSpPr>
          <p:cNvPr id="18" name="stat pip"/>
          <p:cNvSpPr/>
          <p:nvPr/>
        </p:nvSpPr>
        <p:spPr>
          <a:xfrm>
            <a:off x="1508760" y="5230368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tat pip"/>
          <p:cNvSpPr/>
          <p:nvPr/>
        </p:nvSpPr>
        <p:spPr>
          <a:xfrm>
            <a:off x="1947672" y="5230368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stat pip"/>
          <p:cNvSpPr/>
          <p:nvPr/>
        </p:nvSpPr>
        <p:spPr>
          <a:xfrm>
            <a:off x="2386584" y="5230368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stat pip"/>
          <p:cNvSpPr/>
          <p:nvPr/>
        </p:nvSpPr>
        <p:spPr>
          <a:xfrm>
            <a:off x="2825496" y="5230368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stat pip"/>
          <p:cNvSpPr/>
          <p:nvPr/>
        </p:nvSpPr>
        <p:spPr>
          <a:xfrm>
            <a:off x="3264408" y="5230368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5686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數據</a:t>
            </a:r>
            <a:endParaRPr lang="en-US" sz="1400" dirty="0"/>
          </a:p>
        </p:txBody>
      </p:sp>
      <p:sp>
        <p:nvSpPr>
          <p:cNvPr id="24" name="stat pip"/>
          <p:cNvSpPr/>
          <p:nvPr/>
        </p:nvSpPr>
        <p:spPr>
          <a:xfrm>
            <a:off x="1508760" y="5614416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tat pip"/>
          <p:cNvSpPr/>
          <p:nvPr/>
        </p:nvSpPr>
        <p:spPr>
          <a:xfrm>
            <a:off x="1947672" y="5614416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tat pip"/>
          <p:cNvSpPr/>
          <p:nvPr/>
        </p:nvSpPr>
        <p:spPr>
          <a:xfrm>
            <a:off x="2386584" y="5614416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stat pip"/>
          <p:cNvSpPr/>
          <p:nvPr/>
        </p:nvSpPr>
        <p:spPr>
          <a:xfrm>
            <a:off x="2825496" y="5614416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tat pip"/>
          <p:cNvSpPr/>
          <p:nvPr/>
        </p:nvSpPr>
        <p:spPr>
          <a:xfrm>
            <a:off x="3264408" y="5614416"/>
            <a:ext cx="365760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elective 2B"/>
          <p:cNvSpPr/>
          <p:nvPr/>
        </p:nvSpPr>
        <p:spPr>
          <a:xfrm>
            <a:off x="4334256" y="1417320"/>
            <a:ext cx="3520440" cy="466344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/>
        </p:spPr>
      </p:sp>
      <p:sp>
        <p:nvSpPr>
          <p:cNvPr id="30" name="網頁應用開發 circle"/>
          <p:cNvSpPr/>
          <p:nvPr/>
        </p:nvSpPr>
        <p:spPr>
          <a:xfrm>
            <a:off x="4608576" y="16916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網頁應用開發" descr="網頁應用開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372" y="1891436"/>
            <a:ext cx="469087" cy="469087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660136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5660136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網頁創作家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4608576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網頁應用開發</a:t>
            </a:r>
            <a:endParaRPr lang="en-US" sz="2100" dirty="0"/>
          </a:p>
        </p:txBody>
      </p:sp>
      <p:sp>
        <p:nvSpPr>
          <p:cNvPr id="35" name="Text 31"/>
          <p:cNvSpPr txBox="1"/>
          <p:nvPr/>
        </p:nvSpPr>
        <p:spPr>
          <a:xfrm>
            <a:off x="4608576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 HTML、CSS、JavaScript 整互動網站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4608576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適合你，如果你……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鍾意設計、動手創作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4608576" y="4800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邏輯</a:t>
            </a:r>
            <a:endParaRPr lang="en-US" sz="1400" dirty="0"/>
          </a:p>
        </p:txBody>
      </p:sp>
      <p:sp>
        <p:nvSpPr>
          <p:cNvPr id="38" name="stat pip"/>
          <p:cNvSpPr/>
          <p:nvPr/>
        </p:nvSpPr>
        <p:spPr>
          <a:xfrm>
            <a:off x="5294376" y="4846320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9" name="stat pip"/>
          <p:cNvSpPr/>
          <p:nvPr/>
        </p:nvSpPr>
        <p:spPr>
          <a:xfrm>
            <a:off x="5733288" y="4846320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0" name="stat pip"/>
          <p:cNvSpPr/>
          <p:nvPr/>
        </p:nvSpPr>
        <p:spPr>
          <a:xfrm>
            <a:off x="6172200" y="4846320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1" name="stat pip"/>
          <p:cNvSpPr/>
          <p:nvPr/>
        </p:nvSpPr>
        <p:spPr>
          <a:xfrm>
            <a:off x="6611112" y="4846320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2" name="stat pip"/>
          <p:cNvSpPr/>
          <p:nvPr/>
        </p:nvSpPr>
        <p:spPr>
          <a:xfrm>
            <a:off x="7050024" y="4846320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4608576" y="5184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創意</a:t>
            </a:r>
            <a:endParaRPr lang="en-US" sz="1400" dirty="0"/>
          </a:p>
        </p:txBody>
      </p:sp>
      <p:sp>
        <p:nvSpPr>
          <p:cNvPr id="44" name="stat pip"/>
          <p:cNvSpPr/>
          <p:nvPr/>
        </p:nvSpPr>
        <p:spPr>
          <a:xfrm>
            <a:off x="5294376" y="5230368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5" name="stat pip"/>
          <p:cNvSpPr/>
          <p:nvPr/>
        </p:nvSpPr>
        <p:spPr>
          <a:xfrm>
            <a:off x="5733288" y="5230368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6" name="stat pip"/>
          <p:cNvSpPr/>
          <p:nvPr/>
        </p:nvSpPr>
        <p:spPr>
          <a:xfrm>
            <a:off x="6172200" y="5230368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7" name="stat pip"/>
          <p:cNvSpPr/>
          <p:nvPr/>
        </p:nvSpPr>
        <p:spPr>
          <a:xfrm>
            <a:off x="6611112" y="5230368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8" name="stat pip"/>
          <p:cNvSpPr/>
          <p:nvPr/>
        </p:nvSpPr>
        <p:spPr>
          <a:xfrm>
            <a:off x="7050024" y="5230368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4608576" y="55686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數據</a:t>
            </a:r>
            <a:endParaRPr lang="en-US" sz="1400" dirty="0"/>
          </a:p>
        </p:txBody>
      </p:sp>
      <p:sp>
        <p:nvSpPr>
          <p:cNvPr id="50" name="stat pip"/>
          <p:cNvSpPr/>
          <p:nvPr/>
        </p:nvSpPr>
        <p:spPr>
          <a:xfrm>
            <a:off x="5294376" y="5614416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1" name="stat pip"/>
          <p:cNvSpPr/>
          <p:nvPr/>
        </p:nvSpPr>
        <p:spPr>
          <a:xfrm>
            <a:off x="5733288" y="5614416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2" name="stat pip"/>
          <p:cNvSpPr/>
          <p:nvPr/>
        </p:nvSpPr>
        <p:spPr>
          <a:xfrm>
            <a:off x="6172200" y="5614416"/>
            <a:ext cx="365760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3" name="stat pip"/>
          <p:cNvSpPr/>
          <p:nvPr/>
        </p:nvSpPr>
        <p:spPr>
          <a:xfrm>
            <a:off x="6611112" y="5614416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4" name="stat pip"/>
          <p:cNvSpPr/>
          <p:nvPr/>
        </p:nvSpPr>
        <p:spPr>
          <a:xfrm>
            <a:off x="7050024" y="5614416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5" name="elective 2C"/>
          <p:cNvSpPr/>
          <p:nvPr/>
        </p:nvSpPr>
        <p:spPr>
          <a:xfrm>
            <a:off x="8119872" y="1417320"/>
            <a:ext cx="3520440" cy="466344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/>
        </p:spPr>
      </p:sp>
      <p:sp>
        <p:nvSpPr>
          <p:cNvPr id="56" name="演算法與程式編寫 circle"/>
          <p:cNvSpPr/>
          <p:nvPr/>
        </p:nvSpPr>
        <p:spPr>
          <a:xfrm>
            <a:off x="8394192" y="169164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7" name="演算法與程式編寫" descr="演算法與程式編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988" y="1891436"/>
            <a:ext cx="469087" cy="469087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9445752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</a:t>
            </a:r>
            <a:endParaRPr lang="en-US" sz="1800" dirty="0"/>
          </a:p>
        </p:txBody>
      </p:sp>
      <p:sp>
        <p:nvSpPr>
          <p:cNvPr id="59" name="Text 54"/>
          <p:cNvSpPr txBox="1"/>
          <p:nvPr/>
        </p:nvSpPr>
        <p:spPr>
          <a:xfrm>
            <a:off x="9445752" y="2103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編程挑戰者</a:t>
            </a:r>
            <a:endParaRPr lang="en-US" sz="1500" dirty="0"/>
          </a:p>
        </p:txBody>
      </p:sp>
      <p:sp>
        <p:nvSpPr>
          <p:cNvPr id="60" name="Text 55"/>
          <p:cNvSpPr txBox="1"/>
          <p:nvPr/>
        </p:nvSpPr>
        <p:spPr>
          <a:xfrm>
            <a:off x="8394192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演算法與程式編寫</a:t>
            </a:r>
            <a:endParaRPr lang="en-US" sz="2100" dirty="0"/>
          </a:p>
        </p:txBody>
      </p:sp>
      <p:sp>
        <p:nvSpPr>
          <p:cNvPr id="61" name="Text 56"/>
          <p:cNvSpPr txBox="1"/>
          <p:nvPr/>
        </p:nvSpPr>
        <p:spPr>
          <a:xfrm>
            <a:off x="8394192" y="3246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深入編程、演算法同數據結構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8394192" y="39776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適合你，如果你……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鍾意挑戰難題、解謎</a:t>
            </a:r>
            <a:endParaRPr lang="en-US" sz="1500" dirty="0"/>
          </a:p>
        </p:txBody>
      </p:sp>
      <p:sp>
        <p:nvSpPr>
          <p:cNvPr id="63" name="Text 58"/>
          <p:cNvSpPr txBox="1"/>
          <p:nvPr/>
        </p:nvSpPr>
        <p:spPr>
          <a:xfrm>
            <a:off x="8394192" y="4800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邏輯</a:t>
            </a:r>
            <a:endParaRPr lang="en-US" sz="1400" dirty="0"/>
          </a:p>
        </p:txBody>
      </p:sp>
      <p:sp>
        <p:nvSpPr>
          <p:cNvPr id="64" name="stat pip"/>
          <p:cNvSpPr/>
          <p:nvPr/>
        </p:nvSpPr>
        <p:spPr>
          <a:xfrm>
            <a:off x="9079992" y="4846320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5" name="stat pip"/>
          <p:cNvSpPr/>
          <p:nvPr/>
        </p:nvSpPr>
        <p:spPr>
          <a:xfrm>
            <a:off x="9518904" y="4846320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6" name="stat pip"/>
          <p:cNvSpPr/>
          <p:nvPr/>
        </p:nvSpPr>
        <p:spPr>
          <a:xfrm>
            <a:off x="9957816" y="4846320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7" name="stat pip"/>
          <p:cNvSpPr/>
          <p:nvPr/>
        </p:nvSpPr>
        <p:spPr>
          <a:xfrm>
            <a:off x="10396728" y="4846320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8" name="stat pip"/>
          <p:cNvSpPr/>
          <p:nvPr/>
        </p:nvSpPr>
        <p:spPr>
          <a:xfrm>
            <a:off x="10835640" y="4846320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8394192" y="5184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創意</a:t>
            </a:r>
            <a:endParaRPr lang="en-US" sz="1400" dirty="0"/>
          </a:p>
        </p:txBody>
      </p:sp>
      <p:sp>
        <p:nvSpPr>
          <p:cNvPr id="70" name="stat pip"/>
          <p:cNvSpPr/>
          <p:nvPr/>
        </p:nvSpPr>
        <p:spPr>
          <a:xfrm>
            <a:off x="9079992" y="5230368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1" name="stat pip"/>
          <p:cNvSpPr/>
          <p:nvPr/>
        </p:nvSpPr>
        <p:spPr>
          <a:xfrm>
            <a:off x="9518904" y="5230368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2" name="stat pip"/>
          <p:cNvSpPr/>
          <p:nvPr/>
        </p:nvSpPr>
        <p:spPr>
          <a:xfrm>
            <a:off x="9957816" y="5230368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3" name="stat pip"/>
          <p:cNvSpPr/>
          <p:nvPr/>
        </p:nvSpPr>
        <p:spPr>
          <a:xfrm>
            <a:off x="10396728" y="5230368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4" name="stat pip"/>
          <p:cNvSpPr/>
          <p:nvPr/>
        </p:nvSpPr>
        <p:spPr>
          <a:xfrm>
            <a:off x="10835640" y="5230368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5" name="Text 70"/>
          <p:cNvSpPr txBox="1"/>
          <p:nvPr/>
        </p:nvSpPr>
        <p:spPr>
          <a:xfrm>
            <a:off x="8394192" y="55686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數據</a:t>
            </a:r>
            <a:endParaRPr lang="en-US" sz="1400" dirty="0"/>
          </a:p>
        </p:txBody>
      </p:sp>
      <p:sp>
        <p:nvSpPr>
          <p:cNvPr id="76" name="stat pip"/>
          <p:cNvSpPr/>
          <p:nvPr/>
        </p:nvSpPr>
        <p:spPr>
          <a:xfrm>
            <a:off x="9079992" y="5614416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7" name="stat pip"/>
          <p:cNvSpPr/>
          <p:nvPr/>
        </p:nvSpPr>
        <p:spPr>
          <a:xfrm>
            <a:off x="9518904" y="5614416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8" name="stat pip"/>
          <p:cNvSpPr/>
          <p:nvPr/>
        </p:nvSpPr>
        <p:spPr>
          <a:xfrm>
            <a:off x="9957816" y="5614416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9" name="stat pip"/>
          <p:cNvSpPr/>
          <p:nvPr/>
        </p:nvSpPr>
        <p:spPr>
          <a:xfrm>
            <a:off x="10396728" y="5614416"/>
            <a:ext cx="365760" cy="20116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0" name="stat pip"/>
          <p:cNvSpPr/>
          <p:nvPr/>
        </p:nvSpPr>
        <p:spPr>
          <a:xfrm>
            <a:off x="10835640" y="5614416"/>
            <a:ext cx="365760" cy="20116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你嘅第一個程式：估數字遊戲</a:t>
            </a:r>
            <a:endParaRPr lang="en-US" sz="3400" dirty="0"/>
          </a:p>
        </p:txBody>
      </p:sp>
      <p:sp>
        <p:nvSpPr>
          <p:cNvPr id="3" name="code editor"/>
          <p:cNvSpPr/>
          <p:nvPr/>
        </p:nvSpPr>
        <p:spPr>
          <a:xfrm>
            <a:off x="548640" y="1417320"/>
            <a:ext cx="6720840" cy="4617720"/>
          </a:xfrm>
          <a:prstGeom prst="roundRect">
            <a:avLst>
              <a:gd name="adj" fmla="val 3564"/>
            </a:avLst>
          </a:prstGeom>
          <a:solidFill>
            <a:schemeClr val="tx1"/>
          </a:solidFill>
          <a:ln/>
        </p:spPr>
      </p:sp>
      <p:sp>
        <p:nvSpPr>
          <p:cNvPr id="4" name="window dot"/>
          <p:cNvSpPr/>
          <p:nvPr/>
        </p:nvSpPr>
        <p:spPr>
          <a:xfrm>
            <a:off x="822960" y="164592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window dot"/>
          <p:cNvSpPr/>
          <p:nvPr/>
        </p:nvSpPr>
        <p:spPr>
          <a:xfrm>
            <a:off x="1097280" y="164592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window dot"/>
          <p:cNvSpPr/>
          <p:nvPr/>
        </p:nvSpPr>
        <p:spPr>
          <a:xfrm>
            <a:off x="1371600" y="164592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8308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0312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random.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(1, 10)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=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"估 1-10 嘅數字："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guess == secret: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"估中！你係天才！"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"差少少！答案係"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secret)</a:t>
            </a:r>
            <a:endParaRPr lang="en-US" sz="1700" dirty="0"/>
          </a:p>
        </p:txBody>
      </p:sp>
      <p:sp>
        <p:nvSpPr>
          <p:cNvPr id="9" name="output panel"/>
          <p:cNvSpPr/>
          <p:nvPr/>
        </p:nvSpPr>
        <p:spPr>
          <a:xfrm>
            <a:off x="7589520" y="1417320"/>
            <a:ext cx="4050792" cy="214884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執行結果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057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估 1-10 嘅數字：7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差少少！答案係 3</a:t>
            </a:r>
            <a:endParaRPr lang="en-US" sz="1700" dirty="0"/>
          </a:p>
        </p:txBody>
      </p:sp>
      <p:sp>
        <p:nvSpPr>
          <p:cNvPr id="12" name="takeaway panel"/>
          <p:cNvSpPr/>
          <p:nvPr/>
        </p:nvSpPr>
        <p:spPr>
          <a:xfrm>
            <a:off x="7589520" y="3794760"/>
            <a:ext cx="4050792" cy="2240280"/>
          </a:xfrm>
          <a:prstGeom prst="roundRect">
            <a:avLst>
              <a:gd name="adj" fmla="val 734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7 行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就做到一個小遊戲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617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變數、輸入、條件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都係單元 D 會學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5257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你可以點改良？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例如：俾 3 次機會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STAGE 3｜SBA：整一個屬於你嘅資訊系統</a:t>
            </a:r>
            <a:endParaRPr lang="en-US" sz="3400" dirty="0"/>
          </a:p>
        </p:txBody>
      </p:sp>
      <p:sp>
        <p:nvSpPr>
          <p:cNvPr id="3" name="SBA step 1"/>
          <p:cNvSpPr/>
          <p:nvPr/>
        </p:nvSpPr>
        <p:spPr>
          <a:xfrm>
            <a:off x="548640" y="1463040"/>
            <a:ext cx="2011680" cy="260604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</p:sp>
      <p:sp>
        <p:nvSpPr>
          <p:cNvPr id="4" name="分析 circle"/>
          <p:cNvSpPr/>
          <p:nvPr/>
        </p:nvSpPr>
        <p:spPr>
          <a:xfrm>
            <a:off x="114300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分析" descr="分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1926641"/>
            <a:ext cx="444398" cy="444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分析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搵出用家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真正需要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42032" y="2331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SBA step 2"/>
          <p:cNvSpPr/>
          <p:nvPr/>
        </p:nvSpPr>
        <p:spPr>
          <a:xfrm>
            <a:off x="2816352" y="1463040"/>
            <a:ext cx="2011680" cy="260604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</p:sp>
      <p:sp>
        <p:nvSpPr>
          <p:cNvPr id="10" name="設計 circle"/>
          <p:cNvSpPr/>
          <p:nvPr/>
        </p:nvSpPr>
        <p:spPr>
          <a:xfrm>
            <a:off x="3410712" y="17373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設計" descr="設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3" y="1926641"/>
            <a:ext cx="444398" cy="44439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6352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設計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95351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規劃介面、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數據同流程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09744" y="2331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SBA step 3"/>
          <p:cNvSpPr/>
          <p:nvPr/>
        </p:nvSpPr>
        <p:spPr>
          <a:xfrm>
            <a:off x="5084064" y="1463040"/>
            <a:ext cx="2011680" cy="260604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</p:sp>
      <p:sp>
        <p:nvSpPr>
          <p:cNvPr id="16" name="實踐 circle"/>
          <p:cNvSpPr/>
          <p:nvPr/>
        </p:nvSpPr>
        <p:spPr>
          <a:xfrm>
            <a:off x="5678424" y="1737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實踐" descr="實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05" y="1926641"/>
            <a:ext cx="444398" cy="444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84064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實踐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221224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寫程式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建立系統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077456" y="2331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BA step 4"/>
          <p:cNvSpPr/>
          <p:nvPr/>
        </p:nvSpPr>
        <p:spPr>
          <a:xfrm>
            <a:off x="7351776" y="1463040"/>
            <a:ext cx="2011680" cy="260604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</p:sp>
      <p:sp>
        <p:nvSpPr>
          <p:cNvPr id="22" name="測試 circle"/>
          <p:cNvSpPr/>
          <p:nvPr/>
        </p:nvSpPr>
        <p:spPr>
          <a:xfrm>
            <a:off x="7946136" y="17373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測試" descr="測試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17" y="1926641"/>
            <a:ext cx="444398" cy="4443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51776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測試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7488936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搵 bug、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修正錯誤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345168" y="23317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›</a:t>
            </a:r>
            <a:endParaRPr lang="en-US" sz="3000" dirty="0"/>
          </a:p>
        </p:txBody>
      </p:sp>
      <p:sp>
        <p:nvSpPr>
          <p:cNvPr id="27" name="SBA step 5"/>
          <p:cNvSpPr/>
          <p:nvPr/>
        </p:nvSpPr>
        <p:spPr>
          <a:xfrm>
            <a:off x="9619488" y="1463040"/>
            <a:ext cx="2011680" cy="260604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</p:sp>
      <p:sp>
        <p:nvSpPr>
          <p:cNvPr id="28" name="評估 circle"/>
          <p:cNvSpPr/>
          <p:nvPr/>
        </p:nvSpPr>
        <p:spPr>
          <a:xfrm>
            <a:off x="10213848" y="17373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評估" descr="評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3129" y="1926641"/>
            <a:ext cx="444398" cy="44439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1948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評估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9756648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反思同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改良作品</a:t>
            </a:r>
            <a:endParaRPr lang="en-US" sz="1500" dirty="0"/>
          </a:p>
        </p:txBody>
      </p:sp>
      <p:sp>
        <p:nvSpPr>
          <p:cNvPr id="32" name="SBA stat 小時課時"/>
          <p:cNvSpPr/>
          <p:nvPr/>
        </p:nvSpPr>
        <p:spPr>
          <a:xfrm>
            <a:off x="548640" y="4343400"/>
            <a:ext cx="2286000" cy="1691640"/>
          </a:xfrm>
          <a:prstGeom prst="roundRect">
            <a:avLst>
              <a:gd name="adj" fmla="val 9730"/>
            </a:avLst>
          </a:prstGeom>
          <a:solidFill>
            <a:schemeClr val="tx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548640" y="4434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小時課時</a:t>
            </a:r>
            <a:endParaRPr lang="en-US" sz="1600" dirty="0"/>
          </a:p>
        </p:txBody>
      </p:sp>
      <p:sp>
        <p:nvSpPr>
          <p:cNvPr id="35" name="SBA stat 佔總分"/>
          <p:cNvSpPr/>
          <p:nvPr/>
        </p:nvSpPr>
        <p:spPr>
          <a:xfrm>
            <a:off x="3063240" y="4343400"/>
            <a:ext cx="2286000" cy="1691640"/>
          </a:xfrm>
          <a:prstGeom prst="roundRect">
            <a:avLst>
              <a:gd name="adj" fmla="val 9730"/>
            </a:avLst>
          </a:prstGeom>
          <a:solidFill>
            <a:schemeClr val="tx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3063240" y="4434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800" dirty="0"/>
          </a:p>
        </p:txBody>
      </p:sp>
      <p:sp>
        <p:nvSpPr>
          <p:cNvPr id="37" name="Text 30"/>
          <p:cNvSpPr txBox="1"/>
          <p:nvPr/>
        </p:nvSpPr>
        <p:spPr>
          <a:xfrm>
            <a:off x="306324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佔總分</a:t>
            </a:r>
            <a:endParaRPr lang="en-US" sz="1600" dirty="0"/>
          </a:p>
        </p:txBody>
      </p:sp>
      <p:sp>
        <p:nvSpPr>
          <p:cNvPr id="38" name="project ideas"/>
          <p:cNvSpPr/>
          <p:nvPr/>
        </p:nvSpPr>
        <p:spPr>
          <a:xfrm>
            <a:off x="5577840" y="4343400"/>
            <a:ext cx="6062472" cy="169164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5852160" y="4480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專題例子（示意）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5852160" y="489204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圖書館借還書系統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班會積分及活動管理系統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校園活動網上報名平台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 tag"/>
          <p:cNvSpPr/>
          <p:nvPr/>
        </p:nvSpPr>
        <p:spPr>
          <a:xfrm>
            <a:off x="640080" y="2057400"/>
            <a:ext cx="1737360" cy="502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LEVEL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評核 &amp; 出路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點計分？讀完可以做咩？</a:t>
            </a:r>
            <a:endParaRPr lang="en-US" sz="2200" dirty="0"/>
          </a:p>
        </p:txBody>
      </p:sp>
      <p:pic>
        <p:nvPicPr>
          <p:cNvPr id="5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724297"/>
            <a:ext cx="2651760" cy="3409406"/>
          </a:xfrm>
          <a:prstGeom prst="rect">
            <a:avLst/>
          </a:prstGeom>
        </p:spPr>
      </p:pic>
      <p:sp>
        <p:nvSpPr>
          <p:cNvPr id="6" name="pixel sparkle 0"/>
          <p:cNvSpPr/>
          <p:nvPr/>
        </p:nvSpPr>
        <p:spPr>
          <a:xfrm>
            <a:off x="8229600" y="1188720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pixel sparkle 1"/>
          <p:cNvSpPr/>
          <p:nvPr/>
        </p:nvSpPr>
        <p:spPr>
          <a:xfrm>
            <a:off x="11521440" y="1828800"/>
            <a:ext cx="10972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pixel sparkle 2"/>
          <p:cNvSpPr/>
          <p:nvPr/>
        </p:nvSpPr>
        <p:spPr>
          <a:xfrm>
            <a:off x="11430000" y="5394960"/>
            <a:ext cx="164592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pixel sparkle 3"/>
          <p:cNvSpPr/>
          <p:nvPr/>
        </p:nvSpPr>
        <p:spPr>
          <a:xfrm>
            <a:off x="8138160" y="5303520"/>
            <a:ext cx="109728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8CC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DSE 點計分？</a:t>
            </a:r>
            <a:endParaRPr lang="en-US" sz="3400" dirty="0"/>
          </a:p>
        </p:txBody>
      </p:sp>
      <p:graphicFrame>
        <p:nvGraphicFramePr>
          <p:cNvPr id="3" name="assessment weighting chart" descr=""/>
          <p:cNvGraphicFramePr/>
          <p:nvPr/>
        </p:nvGraphicFramePr>
        <p:xfrm>
          <a:off x="548640" y="1371600"/>
          <a:ext cx="4754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01168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5" name="weighting row 1"/>
          <p:cNvSpPr/>
          <p:nvPr/>
        </p:nvSpPr>
        <p:spPr>
          <a:xfrm>
            <a:off x="5669280" y="1463040"/>
            <a:ext cx="5971032" cy="1024128"/>
          </a:xfrm>
          <a:prstGeom prst="roundRect">
            <a:avLst>
              <a:gd name="adj" fmla="val 160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97880" y="146304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4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5910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卷一｜必修部分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多項選擇題 + 問答題，考五大單元</a:t>
            </a:r>
            <a:endParaRPr lang="en-US" sz="1500" dirty="0"/>
          </a:p>
        </p:txBody>
      </p:sp>
      <p:sp>
        <p:nvSpPr>
          <p:cNvPr id="9" name="weighting row 2"/>
          <p:cNvSpPr/>
          <p:nvPr/>
        </p:nvSpPr>
        <p:spPr>
          <a:xfrm>
            <a:off x="5669280" y="2670048"/>
            <a:ext cx="5971032" cy="1024128"/>
          </a:xfrm>
          <a:prstGeom prst="roundRect">
            <a:avLst>
              <a:gd name="adj" fmla="val 1607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97880" y="267004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7980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卷二｜選修部分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3218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回答你揀嘅兩個選修單元</a:t>
            </a:r>
            <a:endParaRPr lang="en-US" sz="1500" dirty="0"/>
          </a:p>
        </p:txBody>
      </p:sp>
      <p:sp>
        <p:nvSpPr>
          <p:cNvPr id="13" name="weighting row 3"/>
          <p:cNvSpPr/>
          <p:nvPr/>
        </p:nvSpPr>
        <p:spPr>
          <a:xfrm>
            <a:off x="5669280" y="3877056"/>
            <a:ext cx="5971032" cy="1024128"/>
          </a:xfrm>
          <a:prstGeom prst="roundRect">
            <a:avLst>
              <a:gd name="adj" fmla="val 1607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97880" y="3877056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40050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校本評核 SBA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平時完成嘅資訊系統專題</a:t>
            </a:r>
            <a:endParaRPr lang="en-US" sz="1500" dirty="0"/>
          </a:p>
        </p:txBody>
      </p:sp>
      <p:sp>
        <p:nvSpPr>
          <p:cNvPr id="17" name="key message"/>
          <p:cNvSpPr/>
          <p:nvPr/>
        </p:nvSpPr>
        <p:spPr>
          <a:xfrm>
            <a:off x="5669280" y="5120640"/>
            <a:ext cx="5971032" cy="868680"/>
          </a:xfrm>
          <a:prstGeom prst="roundRect">
            <a:avLst>
              <a:gd name="adj" fmla="val 18947"/>
            </a:avLst>
          </a:prstGeom>
          <a:solidFill>
            <a:schemeClr val="tx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97880" y="51206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唔係一試定生死：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兩成分數喺平時專題攞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讀 ICT，你會升級嘅五種能力</a:t>
            </a:r>
            <a:endParaRPr lang="en-US" sz="3400" dirty="0"/>
          </a:p>
        </p:txBody>
      </p:sp>
      <p:graphicFrame>
        <p:nvGraphicFramePr>
          <p:cNvPr id="3" name="skills radar chart (illustrative)" descr=""/>
          <p:cNvGraphicFramePr/>
          <p:nvPr/>
        </p:nvGraphicFramePr>
        <p:xfrm>
          <a:off x="457200" y="132588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（示意圖）</a:t>
            </a:r>
            <a:endParaRPr lang="en-US" sz="1100" dirty="0"/>
          </a:p>
        </p:txBody>
      </p:sp>
      <p:sp>
        <p:nvSpPr>
          <p:cNvPr id="5" name="解難能力 circle"/>
          <p:cNvSpPr/>
          <p:nvPr/>
        </p:nvSpPr>
        <p:spPr>
          <a:xfrm>
            <a:off x="6035040" y="141732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解難能力" descr="解難能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083" y="1581363"/>
            <a:ext cx="385145" cy="38514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49440" y="1399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解難能力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94944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將大問題拆細，逐步解決</a:t>
            </a:r>
            <a:endParaRPr lang="en-US" sz="1500" dirty="0"/>
          </a:p>
        </p:txBody>
      </p:sp>
      <p:sp>
        <p:nvSpPr>
          <p:cNvPr id="9" name="運算思維 circle"/>
          <p:cNvSpPr/>
          <p:nvPr/>
        </p:nvSpPr>
        <p:spPr>
          <a:xfrm>
            <a:off x="6035040" y="2350008"/>
            <a:ext cx="713232" cy="71323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運算思維" descr="運算思維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083" y="2514051"/>
            <a:ext cx="385145" cy="3851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49440" y="2331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運算思維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694944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抽象化、找規律、設計演算法</a:t>
            </a:r>
            <a:endParaRPr lang="en-US" sz="1500" dirty="0"/>
          </a:p>
        </p:txBody>
      </p:sp>
      <p:sp>
        <p:nvSpPr>
          <p:cNvPr id="13" name="創意設計 circle"/>
          <p:cNvSpPr/>
          <p:nvPr/>
        </p:nvSpPr>
        <p:spPr>
          <a:xfrm>
            <a:off x="6035040" y="3282696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創意設計" descr="創意設計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083" y="3446739"/>
            <a:ext cx="385145" cy="38514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49440" y="32644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創意設計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36484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由零開始創作程式同網頁</a:t>
            </a:r>
            <a:endParaRPr lang="en-US" sz="1500" dirty="0"/>
          </a:p>
        </p:txBody>
      </p:sp>
      <p:sp>
        <p:nvSpPr>
          <p:cNvPr id="17" name="團隊協作 circle"/>
          <p:cNvSpPr/>
          <p:nvPr/>
        </p:nvSpPr>
        <p:spPr>
          <a:xfrm>
            <a:off x="6035040" y="4215384"/>
            <a:ext cx="713232" cy="71323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團隊協作" descr="團隊協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083" y="4379427"/>
            <a:ext cx="385145" cy="38514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49440" y="4197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團隊協作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6949440" y="45811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分工合作完成項目</a:t>
            </a:r>
            <a:endParaRPr lang="en-US" sz="1500" dirty="0"/>
          </a:p>
        </p:txBody>
      </p:sp>
      <p:sp>
        <p:nvSpPr>
          <p:cNvPr id="21" name="數碼素養 circle"/>
          <p:cNvSpPr/>
          <p:nvPr/>
        </p:nvSpPr>
        <p:spPr>
          <a:xfrm>
            <a:off x="6035040" y="5148072"/>
            <a:ext cx="713232" cy="7132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數碼素養" descr="數碼素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083" y="5312115"/>
            <a:ext cx="385145" cy="38514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49440" y="5129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數碼素養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6949440" y="5513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安全、負責任咁用科技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讀完 ICT，未來可以點走？</a:t>
            </a:r>
            <a:endParaRPr lang="en-US" sz="3400" dirty="0"/>
          </a:p>
        </p:txBody>
      </p:sp>
      <p:sp>
        <p:nvSpPr>
          <p:cNvPr id="3" name="軟件工程師 tile"/>
          <p:cNvSpPr/>
          <p:nvPr/>
        </p:nvSpPr>
        <p:spPr>
          <a:xfrm>
            <a:off x="548640" y="14173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4" name="軟件工程師 circle"/>
          <p:cNvSpPr/>
          <p:nvPr/>
        </p:nvSpPr>
        <p:spPr>
          <a:xfrm>
            <a:off x="1485900" y="1618488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軟件工程師" descr="軟件工程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50" y="1786738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軟件工程師</a:t>
            </a:r>
            <a:endParaRPr lang="en-US" sz="1800" dirty="0"/>
          </a:p>
        </p:txBody>
      </p:sp>
      <p:sp>
        <p:nvSpPr>
          <p:cNvPr id="7" name="數據分析師 tile"/>
          <p:cNvSpPr/>
          <p:nvPr/>
        </p:nvSpPr>
        <p:spPr>
          <a:xfrm>
            <a:off x="3374136" y="14173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8" name="數據分析師 circle"/>
          <p:cNvSpPr/>
          <p:nvPr/>
        </p:nvSpPr>
        <p:spPr>
          <a:xfrm>
            <a:off x="4311396" y="161848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數據分析師" descr="數據分析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6" y="1786738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74136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數據分析師</a:t>
            </a:r>
            <a:endParaRPr lang="en-US" sz="1800" dirty="0"/>
          </a:p>
        </p:txBody>
      </p:sp>
      <p:sp>
        <p:nvSpPr>
          <p:cNvPr id="11" name="網絡保安專家 tile"/>
          <p:cNvSpPr/>
          <p:nvPr/>
        </p:nvSpPr>
        <p:spPr>
          <a:xfrm>
            <a:off x="6199632" y="14173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12" name="網絡保安專家 circle"/>
          <p:cNvSpPr/>
          <p:nvPr/>
        </p:nvSpPr>
        <p:spPr>
          <a:xfrm>
            <a:off x="7136892" y="1618488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網絡保安專家" descr="網絡保安專家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42" y="1786738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99632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網絡保安專家</a:t>
            </a:r>
            <a:endParaRPr lang="en-US" sz="1800" dirty="0"/>
          </a:p>
        </p:txBody>
      </p:sp>
      <p:sp>
        <p:nvSpPr>
          <p:cNvPr id="15" name="AI 工程師 tile"/>
          <p:cNvSpPr/>
          <p:nvPr/>
        </p:nvSpPr>
        <p:spPr>
          <a:xfrm>
            <a:off x="9025128" y="14173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16" name="AI 工程師 circle"/>
          <p:cNvSpPr/>
          <p:nvPr/>
        </p:nvSpPr>
        <p:spPr>
          <a:xfrm>
            <a:off x="9962388" y="1618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AI 工程師" descr="AI 工程師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638" y="1786738"/>
            <a:ext cx="395021" cy="3950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25128" y="2423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工程師</a:t>
            </a:r>
            <a:endParaRPr lang="en-US" sz="1800" dirty="0"/>
          </a:p>
        </p:txBody>
      </p:sp>
      <p:sp>
        <p:nvSpPr>
          <p:cNvPr id="19" name="遊戲開發者 tile"/>
          <p:cNvSpPr/>
          <p:nvPr/>
        </p:nvSpPr>
        <p:spPr>
          <a:xfrm>
            <a:off x="548640" y="32461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20" name="遊戲開發者 circle"/>
          <p:cNvSpPr/>
          <p:nvPr/>
        </p:nvSpPr>
        <p:spPr>
          <a:xfrm>
            <a:off x="1485900" y="3447288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遊戲開發者" descr="遊戲開發者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50" y="3615538"/>
            <a:ext cx="395021" cy="39502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遊戲開發者</a:t>
            </a:r>
            <a:endParaRPr lang="en-US" sz="1800" dirty="0"/>
          </a:p>
        </p:txBody>
      </p:sp>
      <p:sp>
        <p:nvSpPr>
          <p:cNvPr id="23" name="UI / UX 設計師 tile"/>
          <p:cNvSpPr/>
          <p:nvPr/>
        </p:nvSpPr>
        <p:spPr>
          <a:xfrm>
            <a:off x="3374136" y="32461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24" name="UI / UX 設計師 circle"/>
          <p:cNvSpPr/>
          <p:nvPr/>
        </p:nvSpPr>
        <p:spPr>
          <a:xfrm>
            <a:off x="4311396" y="3447288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UI / UX 設計師" descr="UI / UX 設計師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646" y="3615538"/>
            <a:ext cx="395021" cy="39502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374136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UI / UX 設計師</a:t>
            </a:r>
            <a:endParaRPr lang="en-US" sz="1800" dirty="0"/>
          </a:p>
        </p:txBody>
      </p:sp>
      <p:sp>
        <p:nvSpPr>
          <p:cNvPr id="27" name="金融科技 tile"/>
          <p:cNvSpPr/>
          <p:nvPr/>
        </p:nvSpPr>
        <p:spPr>
          <a:xfrm>
            <a:off x="6199632" y="32461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28" name="金融科技 circle"/>
          <p:cNvSpPr/>
          <p:nvPr/>
        </p:nvSpPr>
        <p:spPr>
          <a:xfrm>
            <a:off x="7136892" y="344728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金融科技" descr="金融科技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142" y="3615538"/>
            <a:ext cx="395021" cy="39502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199632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金融科技</a:t>
            </a:r>
            <a:endParaRPr lang="en-US" sz="1800" dirty="0"/>
          </a:p>
        </p:txBody>
      </p:sp>
      <p:sp>
        <p:nvSpPr>
          <p:cNvPr id="31" name="醫療科技 tile"/>
          <p:cNvSpPr/>
          <p:nvPr/>
        </p:nvSpPr>
        <p:spPr>
          <a:xfrm>
            <a:off x="9025128" y="3246120"/>
            <a:ext cx="2606040" cy="1600200"/>
          </a:xfrm>
          <a:prstGeom prst="roundRect">
            <a:avLst>
              <a:gd name="adj" fmla="val 10286"/>
            </a:avLst>
          </a:prstGeom>
          <a:solidFill>
            <a:schemeClr val="bg2"/>
          </a:solidFill>
          <a:ln/>
        </p:spPr>
      </p:sp>
      <p:sp>
        <p:nvSpPr>
          <p:cNvPr id="32" name="醫療科技 circle"/>
          <p:cNvSpPr/>
          <p:nvPr/>
        </p:nvSpPr>
        <p:spPr>
          <a:xfrm>
            <a:off x="9962388" y="34472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醫療科技" descr="醫療科技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0638" y="3615538"/>
            <a:ext cx="395021" cy="39502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025128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醫療科技</a:t>
            </a:r>
            <a:endParaRPr lang="en-US" sz="1800" dirty="0"/>
          </a:p>
        </p:txBody>
      </p:sp>
      <p:sp>
        <p:nvSpPr>
          <p:cNvPr id="35" name="university programmes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8947"/>
            </a:avLst>
          </a:prstGeom>
          <a:solidFill>
            <a:schemeClr val="tx1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86868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大學相關學科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計算機科學 · 資訊工程 · 數據科學 · 人工智能 · 資訊系統 · 數碼媒體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ICT 啱唔啱你？自我檢查</a:t>
            </a:r>
            <a:endParaRPr lang="en-US" sz="3400" dirty="0"/>
          </a:p>
        </p:txBody>
      </p:sp>
      <p:sp>
        <p:nvSpPr>
          <p:cNvPr id="3" name="checklist item 1"/>
          <p:cNvSpPr/>
          <p:nvPr/>
        </p:nvSpPr>
        <p:spPr>
          <a:xfrm>
            <a:off x="548640" y="146304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4" name="checkbox"/>
          <p:cNvSpPr/>
          <p:nvPr/>
        </p:nvSpPr>
        <p:spPr>
          <a:xfrm>
            <a:off x="777240" y="168249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鍾意拆解問題、諗辦法</a:t>
            </a:r>
            <a:endParaRPr lang="en-US" sz="1600" dirty="0"/>
          </a:p>
        </p:txBody>
      </p:sp>
      <p:sp>
        <p:nvSpPr>
          <p:cNvPr id="6" name="checklist item 2"/>
          <p:cNvSpPr/>
          <p:nvPr/>
        </p:nvSpPr>
        <p:spPr>
          <a:xfrm>
            <a:off x="4434840" y="146304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7" name="checkbox"/>
          <p:cNvSpPr/>
          <p:nvPr/>
        </p:nvSpPr>
        <p:spPr>
          <a:xfrm>
            <a:off x="4663440" y="168249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好奇 App、遊戲、網站點樣整出嚟</a:t>
            </a:r>
            <a:endParaRPr lang="en-US" sz="1600" dirty="0"/>
          </a:p>
        </p:txBody>
      </p:sp>
      <p:sp>
        <p:nvSpPr>
          <p:cNvPr id="9" name="checklist item 3"/>
          <p:cNvSpPr/>
          <p:nvPr/>
        </p:nvSpPr>
        <p:spPr>
          <a:xfrm>
            <a:off x="548640" y="256032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0" name="checkbox"/>
          <p:cNvSpPr/>
          <p:nvPr/>
        </p:nvSpPr>
        <p:spPr>
          <a:xfrm>
            <a:off x="777240" y="277977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560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唔怕試錯，肯一次又一次改良</a:t>
            </a:r>
            <a:endParaRPr lang="en-US" sz="1600" dirty="0"/>
          </a:p>
        </p:txBody>
      </p:sp>
      <p:sp>
        <p:nvSpPr>
          <p:cNvPr id="12" name="checklist item 4"/>
          <p:cNvSpPr/>
          <p:nvPr/>
        </p:nvSpPr>
        <p:spPr>
          <a:xfrm>
            <a:off x="4434840" y="256032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3" name="checkbox"/>
          <p:cNvSpPr/>
          <p:nvPr/>
        </p:nvSpPr>
        <p:spPr>
          <a:xfrm>
            <a:off x="4663440" y="277977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25603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想用科技幫人、改善生活</a:t>
            </a:r>
            <a:endParaRPr lang="en-US" sz="1600" dirty="0"/>
          </a:p>
        </p:txBody>
      </p:sp>
      <p:sp>
        <p:nvSpPr>
          <p:cNvPr id="15" name="checklist item 5"/>
          <p:cNvSpPr/>
          <p:nvPr/>
        </p:nvSpPr>
        <p:spPr>
          <a:xfrm>
            <a:off x="548640" y="365760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6" name="checkbox"/>
          <p:cNvSpPr/>
          <p:nvPr/>
        </p:nvSpPr>
        <p:spPr>
          <a:xfrm>
            <a:off x="777240" y="387705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36576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對 AI、網絡安全等新科技有興趣</a:t>
            </a:r>
            <a:endParaRPr lang="en-US" sz="1600" dirty="0"/>
          </a:p>
        </p:txBody>
      </p:sp>
      <p:sp>
        <p:nvSpPr>
          <p:cNvPr id="18" name="checklist item 6"/>
          <p:cNvSpPr/>
          <p:nvPr/>
        </p:nvSpPr>
        <p:spPr>
          <a:xfrm>
            <a:off x="4434840" y="3657600"/>
            <a:ext cx="3657600" cy="868680"/>
          </a:xfrm>
          <a:prstGeom prst="roundRect">
            <a:avLst>
              <a:gd name="adj" fmla="val 18947"/>
            </a:avLst>
          </a:prstGeom>
          <a:solidFill>
            <a:schemeClr val="bg2"/>
          </a:solidFill>
          <a:ln/>
        </p:spPr>
      </p:sp>
      <p:sp>
        <p:nvSpPr>
          <p:cNvPr id="19" name="checkbox"/>
          <p:cNvSpPr/>
          <p:nvPr/>
        </p:nvSpPr>
        <p:spPr>
          <a:xfrm>
            <a:off x="4663440" y="3877056"/>
            <a:ext cx="429768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36576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鍾意動手做，多過死記硬背</a:t>
            </a:r>
            <a:endParaRPr lang="en-US" sz="1600" dirty="0"/>
          </a:p>
        </p:txBody>
      </p:sp>
      <p:sp>
        <p:nvSpPr>
          <p:cNvPr id="21" name="result banner"/>
          <p:cNvSpPr/>
          <p:nvPr/>
        </p:nvSpPr>
        <p:spPr>
          <a:xfrm>
            <a:off x="548640" y="4846320"/>
            <a:ext cx="7543800" cy="1188720"/>
          </a:xfrm>
          <a:prstGeom prst="roundRect">
            <a:avLst>
              <a:gd name="adj" fmla="val 13846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4632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剔中 3 個或以上？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ICT 好可能就係你嘅那一科！</a:t>
            </a:r>
            <a:endParaRPr lang="en-US" sz="2000" dirty="0"/>
          </a:p>
        </p:txBody>
      </p:sp>
      <p:pic>
        <p:nvPicPr>
          <p:cNvPr id="23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095897"/>
            <a:ext cx="2286000" cy="2939143"/>
          </a:xfrm>
          <a:prstGeom prst="rect">
            <a:avLst/>
          </a:prstGeom>
        </p:spPr>
      </p:pic>
      <p:sp>
        <p:nvSpPr>
          <p:cNvPr id="24" name="speech bubble"/>
          <p:cNvSpPr/>
          <p:nvPr/>
        </p:nvSpPr>
        <p:spPr>
          <a:xfrm>
            <a:off x="8595360" y="1463040"/>
            <a:ext cx="3017520" cy="9144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31750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興趣比天分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更重要！</a:t>
            </a:r>
            <a:endParaRPr lang="en-US" sz="1800" dirty="0"/>
          </a:p>
        </p:txBody>
      </p:sp>
      <p:sp>
        <p:nvSpPr>
          <p:cNvPr id="25" name="bubble tail"/>
          <p:cNvSpPr/>
          <p:nvPr/>
        </p:nvSpPr>
        <p:spPr>
          <a:xfrm rot="10800000">
            <a:off x="9966960" y="2350008"/>
            <a:ext cx="292608" cy="256032"/>
          </a:xfrm>
          <a:prstGeom prst="triangle">
            <a:avLst/>
          </a:prstGeom>
          <a:solidFill>
            <a:schemeClr val="bg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同學最常問嘅四個問題</a:t>
            </a:r>
            <a:endParaRPr lang="en-US" sz="3400" dirty="0"/>
          </a:p>
        </p:txBody>
      </p:sp>
      <p:sp>
        <p:nvSpPr>
          <p:cNvPr id="3" name="FAQ 1"/>
          <p:cNvSpPr/>
          <p:nvPr/>
        </p:nvSpPr>
        <p:spPr>
          <a:xfrm>
            <a:off x="548640" y="1417320"/>
            <a:ext cx="5431536" cy="21945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FAQ icon 1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FAQ icon 1" descr="FAQ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8598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486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9164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我未學過寫程式，跟得上嗎？</a:t>
            </a:r>
            <a:endParaRPr lang="en-US" sz="1900" dirty="0"/>
          </a:p>
        </p:txBody>
      </p:sp>
      <p:sp>
        <p:nvSpPr>
          <p:cNvPr id="8" name="answer box"/>
          <p:cNvSpPr/>
          <p:nvPr/>
        </p:nvSpPr>
        <p:spPr>
          <a:xfrm>
            <a:off x="822960" y="2606040"/>
            <a:ext cx="4882896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260604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跟得上！由基礎教起，最緊要肯試同多練習。</a:t>
            </a:r>
            <a:endParaRPr lang="en-US" sz="1600" dirty="0"/>
          </a:p>
        </p:txBody>
      </p:sp>
      <p:sp>
        <p:nvSpPr>
          <p:cNvPr id="10" name="FAQ 2"/>
          <p:cNvSpPr/>
          <p:nvPr/>
        </p:nvSpPr>
        <p:spPr>
          <a:xfrm>
            <a:off x="6208776" y="1417320"/>
            <a:ext cx="5431536" cy="21945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1" name="FAQ icon 2 circle"/>
          <p:cNvSpPr/>
          <p:nvPr/>
        </p:nvSpPr>
        <p:spPr>
          <a:xfrm>
            <a:off x="6483096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Q icon 2" descr="FAQ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18598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087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397496" y="169164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數學唔係好叻，可以讀 ICT 嗎？</a:t>
            </a:r>
            <a:endParaRPr lang="en-US" sz="1900" dirty="0"/>
          </a:p>
        </p:txBody>
      </p:sp>
      <p:sp>
        <p:nvSpPr>
          <p:cNvPr id="15" name="answer box"/>
          <p:cNvSpPr/>
          <p:nvPr/>
        </p:nvSpPr>
        <p:spPr>
          <a:xfrm>
            <a:off x="6483096" y="2606040"/>
            <a:ext cx="4882896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20256" y="260604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ICT 重邏輯解難，唔係計數；興趣同練習更重要。</a:t>
            </a:r>
            <a:endParaRPr lang="en-US" sz="1600" dirty="0"/>
          </a:p>
        </p:txBody>
      </p:sp>
      <p:sp>
        <p:nvSpPr>
          <p:cNvPr id="17" name="FAQ 3"/>
          <p:cNvSpPr/>
          <p:nvPr/>
        </p:nvSpPr>
        <p:spPr>
          <a:xfrm>
            <a:off x="548640" y="3886200"/>
            <a:ext cx="5431536" cy="21945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8" name="FAQ icon 3 circle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FAQ icon 3" descr="FAQ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43287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48656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416052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屋企要有好勁嘅電腦嗎？</a:t>
            </a:r>
            <a:endParaRPr lang="en-US" sz="1900" dirty="0"/>
          </a:p>
        </p:txBody>
      </p:sp>
      <p:sp>
        <p:nvSpPr>
          <p:cNvPr id="22" name="answer box"/>
          <p:cNvSpPr/>
          <p:nvPr/>
        </p:nvSpPr>
        <p:spPr>
          <a:xfrm>
            <a:off x="822960" y="5074920"/>
            <a:ext cx="4882896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960120" y="507492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唔使！普通電腦已夠練習，學校亦有電腦室。</a:t>
            </a:r>
            <a:endParaRPr lang="en-US" sz="1600" dirty="0"/>
          </a:p>
        </p:txBody>
      </p:sp>
      <p:sp>
        <p:nvSpPr>
          <p:cNvPr id="24" name="FAQ 4"/>
          <p:cNvSpPr/>
          <p:nvPr/>
        </p:nvSpPr>
        <p:spPr>
          <a:xfrm>
            <a:off x="6208776" y="3886200"/>
            <a:ext cx="5431536" cy="21945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5" name="FAQ icon 4 circle"/>
          <p:cNvSpPr/>
          <p:nvPr/>
        </p:nvSpPr>
        <p:spPr>
          <a:xfrm>
            <a:off x="6483096" y="41605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FAQ icon 4" descr="FAQ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4328770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90879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7397496" y="416052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ICT 可以同咩科目配搭？</a:t>
            </a:r>
            <a:endParaRPr lang="en-US" sz="1900" dirty="0"/>
          </a:p>
        </p:txBody>
      </p:sp>
      <p:sp>
        <p:nvSpPr>
          <p:cNvPr id="29" name="answer box"/>
          <p:cNvSpPr/>
          <p:nvPr/>
        </p:nvSpPr>
        <p:spPr>
          <a:xfrm>
            <a:off x="6483096" y="5074920"/>
            <a:ext cx="4882896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620256" y="5074920"/>
            <a:ext cx="4654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同 M1/M2、物理、經濟、企會財、視藝等都好夾。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B47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ag"/>
          <p:cNvSpPr/>
          <p:nvPr/>
        </p:nvSpPr>
        <p:spPr>
          <a:xfrm>
            <a:off x="640080" y="13258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GAME START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659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Ready, Player 4?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你嘅 ICT 冒險，由中四開始！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有問題？歡迎隨時搵 ICT 科老師傾吓</a:t>
            </a:r>
            <a:endParaRPr lang="en-US" sz="2000" dirty="0"/>
          </a:p>
        </p:txBody>
      </p:sp>
      <p:sp>
        <p:nvSpPr>
          <p:cNvPr id="6" name="QA pill"/>
          <p:cNvSpPr/>
          <p:nvPr/>
        </p:nvSpPr>
        <p:spPr>
          <a:xfrm>
            <a:off x="640080" y="525780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 &amp; A</a:t>
            </a:r>
            <a:endParaRPr lang="en-US" sz="2000" dirty="0"/>
          </a:p>
        </p:txBody>
      </p:sp>
      <p:pic>
        <p:nvPicPr>
          <p:cNvPr id="7" name="mascot robot" descr="像素機械人吉祥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404257"/>
            <a:ext cx="3291840" cy="4232366"/>
          </a:xfrm>
          <a:prstGeom prst="rect">
            <a:avLst/>
          </a:prstGeom>
        </p:spPr>
      </p:pic>
      <p:sp>
        <p:nvSpPr>
          <p:cNvPr id="8" name="pixel sparkle 0"/>
          <p:cNvSpPr/>
          <p:nvPr/>
        </p:nvSpPr>
        <p:spPr>
          <a:xfrm>
            <a:off x="7680960" y="914400"/>
            <a:ext cx="164592" cy="16459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pixel sparkle 1"/>
          <p:cNvSpPr/>
          <p:nvPr/>
        </p:nvSpPr>
        <p:spPr>
          <a:xfrm>
            <a:off x="11338560" y="13716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pixel sparkle 2"/>
          <p:cNvSpPr/>
          <p:nvPr/>
        </p:nvSpPr>
        <p:spPr>
          <a:xfrm>
            <a:off x="11521440" y="5120640"/>
            <a:ext cx="18288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pixel sparkle 3"/>
          <p:cNvSpPr/>
          <p:nvPr/>
        </p:nvSpPr>
        <p:spPr>
          <a:xfrm>
            <a:off x="7498080" y="5669280"/>
            <a:ext cx="128016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pixel sparkle 4"/>
          <p:cNvSpPr/>
          <p:nvPr/>
        </p:nvSpPr>
        <p:spPr>
          <a:xfrm>
            <a:off x="10698480" y="548640"/>
            <a:ext cx="91440" cy="9144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CT Level Up">
  <a:themeElements>
    <a:clrScheme name="ICT Level Up">
      <a:dk1>
        <a:srgbClr val="1B1745"/>
      </a:dk1>
      <a:lt1>
        <a:srgbClr val="FFFFFF"/>
      </a:lt1>
      <a:dk2>
        <a:srgbClr val="4B4790"/>
      </a:dk2>
      <a:lt2>
        <a:srgbClr val="EEF0FF"/>
      </a:lt2>
      <a:accent1>
        <a:srgbClr val="0EA5E9"/>
      </a:accent1>
      <a:accent2>
        <a:srgbClr val="F43F7F"/>
      </a:accent2>
      <a:accent3>
        <a:srgbClr val="FFC226"/>
      </a:accent3>
      <a:accent4>
        <a:srgbClr val="16B67A"/>
      </a:accent4>
      <a:accent5>
        <a:srgbClr val="7C4DFF"/>
      </a:accent5>
      <a:accent6>
        <a:srgbClr val="FF7A30"/>
      </a:accent6>
      <a:hlink>
        <a:srgbClr val="0EA5E9"/>
      </a:hlink>
      <a:folHlink>
        <a:srgbClr val="7C4DFF"/>
      </a:folHlink>
    </a:clrScheme>
    <a:fontScheme name="ICT Level Up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資訊及通訊科技 — 中三選科講座</dc:title>
  <dc:subject>PptxGenJS Presentation</dc:subject>
  <dc:creator>ICT 科</dc:creator>
  <cp:lastModifiedBy>ICT 科</cp:lastModifiedBy>
  <cp:revision>1</cp:revision>
  <dcterms:created xsi:type="dcterms:W3CDTF">2026-10-07T08:11:34Z</dcterms:created>
  <dcterms:modified xsi:type="dcterms:W3CDTF">2026-10-07T08:11:34Z</dcterms:modified>
</cp:coreProperties>
</file>